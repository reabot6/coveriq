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wordmark"/>
          <p:cNvSpPr>
            <a:spLocks noGrp="1"/>
          </p:cNvSpPr>
          <p:nvPr/>
        </p:nvSpPr>
        <p:spPr>
          <a:xfrm>
            <a:off x="742950" y="5524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5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COVERIQ</a:t>
            </a:r>
            <a:endParaRPr sz="2550" b="1">
              <a:solidFill>
                <a:srgbClr val="20C2A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" name="category"/>
          <p:cNvSpPr>
            <a:spLocks noGrp="1"/>
          </p:cNvSpPr>
          <p:nvPr/>
        </p:nvSpPr>
        <p:spPr>
          <a:xfrm>
            <a:off x="762000" y="118110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BANK + FINTECH INTELLIGENCE </a:t>
            </a:r>
            <a:r>
              <a:rPr lang="en-US" sz="1350" b="1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SYSTEM</a:t>
            </a:r>
            <a:endParaRPr lang="en-US" sz="1350" b="1">
              <a:solidFill>
                <a:srgbClr val="B7C5C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" name="cover-title"/>
          <p:cNvSpPr>
            <a:spLocks noGrp="1"/>
          </p:cNvSpPr>
          <p:nvPr/>
        </p:nvSpPr>
        <p:spPr>
          <a:xfrm>
            <a:off x="742950" y="1885950"/>
            <a:ext cx="6572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Better product</a:t>
            </a:r>
            <a:endParaRPr sz="49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matches from</a:t>
            </a:r>
            <a:endParaRPr sz="49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def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9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financial activity</a:t>
            </a:r>
            <a:endParaRPr sz="49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team"/>
          <p:cNvSpPr>
            <a:spLocks noGrp="1"/>
          </p:cNvSpPr>
          <p:nvPr/>
        </p:nvSpPr>
        <p:spPr>
          <a:xfrm>
            <a:off x="762000" y="54483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REABOT6</a:t>
            </a:r>
            <a:endParaRPr sz="1500" b="1">
              <a:solidFill>
                <a:srgbClr val="D8F07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team-members"/>
          <p:cNvSpPr>
            <a:spLocks noGrp="1"/>
          </p:cNvSpPr>
          <p:nvPr/>
        </p:nvSpPr>
        <p:spPr>
          <a:xfrm>
            <a:off x="762000" y="5829300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E9F0F2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Onimisi Adeiza Adeolu  ·  Divine Owolabi Oluwafisayomi</a:t>
            </a:r>
            <a:endParaRPr sz="1425" b="0">
              <a:solidFill>
                <a:srgbClr val="E9F0F2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cover-flow-a"/>
          <p:cNvSpPr>
            <a:spLocks noGrp="1"/>
          </p:cNvSpPr>
          <p:nvPr/>
        </p:nvSpPr>
        <p:spPr>
          <a:xfrm>
            <a:off x="8610600" y="3276600"/>
            <a:ext cx="647700" cy="0"/>
          </a:xfrm>
          <a:prstGeom prst="line">
            <a:avLst/>
          </a:prstGeom>
          <a:noFill/>
          <a:ln w="28575">
            <a:solidFill>
              <a:srgbClr val="507080"/>
            </a:solidFill>
            <a:prstDash val="solid"/>
          </a:ln>
        </p:spPr>
      </p:sp>
      <p:sp>
        <p:nvSpPr>
          <p:cNvPr id="7" name="cover-flow-b"/>
          <p:cNvSpPr>
            <a:spLocks noGrp="1"/>
          </p:cNvSpPr>
          <p:nvPr/>
        </p:nvSpPr>
        <p:spPr>
          <a:xfrm>
            <a:off x="10306050" y="3276600"/>
            <a:ext cx="552450" cy="0"/>
          </a:xfrm>
          <a:prstGeom prst="line">
            <a:avLst/>
          </a:prstGeom>
          <a:noFill/>
          <a:ln w="28575">
            <a:solidFill>
              <a:srgbClr val="507080"/>
            </a:solidFill>
            <a:prstDash val="solid"/>
          </a:ln>
        </p:spPr>
      </p:sp>
      <p:sp>
        <p:nvSpPr>
          <p:cNvPr id="8" name="activity-node"/>
          <p:cNvSpPr>
            <a:spLocks noGrp="1"/>
          </p:cNvSpPr>
          <p:nvPr/>
        </p:nvSpPr>
        <p:spPr>
          <a:xfrm>
            <a:off x="7562850" y="2752725"/>
            <a:ext cx="1047750" cy="1047750"/>
          </a:xfrm>
          <a:prstGeom prst="ellipse">
            <a:avLst/>
          </a:prstGeom>
          <a:solidFill>
            <a:srgbClr val="18334A"/>
          </a:solidFill>
          <a:ln w="19050">
            <a:solidFill>
              <a:srgbClr val="20C2A4"/>
            </a:solidFill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DATA</a:t>
            </a:r>
            <a:endParaRPr sz="13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coveriq-node"/>
          <p:cNvSpPr>
            <a:spLocks noGrp="1"/>
          </p:cNvSpPr>
          <p:nvPr/>
        </p:nvSpPr>
        <p:spPr>
          <a:xfrm>
            <a:off x="9258300" y="2752725"/>
            <a:ext cx="1047750" cy="1047750"/>
          </a:xfrm>
          <a:prstGeom prst="ellipse">
            <a:avLst/>
          </a:prstGeom>
          <a:solidFill>
            <a:srgbClr val="20C2A4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FIT</a:t>
            </a:r>
            <a:endParaRPr sz="1725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offer-node"/>
          <p:cNvSpPr>
            <a:spLocks noGrp="1"/>
          </p:cNvSpPr>
          <p:nvPr/>
        </p:nvSpPr>
        <p:spPr>
          <a:xfrm>
            <a:off x="10858500" y="2752725"/>
            <a:ext cx="1047750" cy="1047750"/>
          </a:xfrm>
          <a:prstGeom prst="ellipse">
            <a:avLst/>
          </a:prstGeom>
          <a:solidFill>
            <a:srgbClr val="D8F078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OFFER</a:t>
            </a:r>
            <a:endParaRPr sz="135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activity-label"/>
          <p:cNvSpPr>
            <a:spLocks noGrp="1"/>
          </p:cNvSpPr>
          <p:nvPr/>
        </p:nvSpPr>
        <p:spPr>
          <a:xfrm>
            <a:off x="7277100" y="40005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Account activity</a:t>
            </a:r>
            <a:endParaRPr sz="1425" b="0">
              <a:solidFill>
                <a:srgbClr val="D7E2E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engine-label"/>
          <p:cNvSpPr>
            <a:spLocks noGrp="1"/>
          </p:cNvSpPr>
          <p:nvPr/>
        </p:nvSpPr>
        <p:spPr>
          <a:xfrm>
            <a:off x="9115425" y="400050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CoverIQ</a:t>
            </a:r>
            <a:endParaRPr sz="142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offer-label"/>
          <p:cNvSpPr>
            <a:spLocks noGrp="1"/>
          </p:cNvSpPr>
          <p:nvPr/>
        </p:nvSpPr>
        <p:spPr>
          <a:xfrm>
            <a:off x="10572750" y="40005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D7E2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Relevant offer</a:t>
            </a:r>
            <a:endParaRPr sz="1425" b="0">
              <a:solidFill>
                <a:srgbClr val="D7E2E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ection-label"/>
          <p:cNvSpPr>
            <a:spLocks noGrp="1"/>
          </p:cNvSpPr>
          <p:nvPr/>
        </p:nvSpPr>
        <p:spPr>
          <a:xfrm>
            <a:off x="704850" y="4572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PROBLEM</a:t>
            </a:r>
            <a:endParaRPr sz="1350" b="1">
              <a:solidFill>
                <a:srgbClr val="20C2A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704850" y="800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product matching gap</a:t>
            </a:r>
            <a:endParaRPr sz="36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" name="problem-subtitle"/>
          <p:cNvSpPr>
            <a:spLocks noGrp="1"/>
          </p:cNvSpPr>
          <p:nvPr/>
        </p:nvSpPr>
        <p:spPr>
          <a:xfrm>
            <a:off x="695325" y="150495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Customers </a:t>
            </a:r>
            <a:r>
              <a:rPr lang="en-US" sz="20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sometimes recieve products that do not relate to them or it doesn and its not just the tight time</a:t>
            </a:r>
            <a:endParaRPr lang="en-US" sz="2025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activity-heading"/>
          <p:cNvSpPr>
            <a:spLocks noGrp="1"/>
          </p:cNvSpPr>
          <p:nvPr/>
        </p:nvSpPr>
        <p:spPr>
          <a:xfrm>
            <a:off x="933450" y="25336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CUSTOMER ACTIVITY</a:t>
            </a:r>
            <a:endParaRPr sz="1350" b="1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activity-row-label-0"/>
          <p:cNvSpPr>
            <a:spLocks noGrp="1"/>
          </p:cNvSpPr>
          <p:nvPr/>
        </p:nvSpPr>
        <p:spPr>
          <a:xfrm>
            <a:off x="952500" y="305752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Income</a:t>
            </a:r>
            <a:endParaRPr sz="1650" b="0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activity-track-0"/>
          <p:cNvSpPr>
            <a:spLocks noGrp="1"/>
          </p:cNvSpPr>
          <p:nvPr/>
        </p:nvSpPr>
        <p:spPr>
          <a:xfrm>
            <a:off x="2324100" y="3219450"/>
            <a:ext cx="2609850" cy="0"/>
          </a:xfrm>
          <a:prstGeom prst="line">
            <a:avLst/>
          </a:prstGeom>
          <a:noFill/>
          <a:ln w="47625">
            <a:solidFill>
              <a:srgbClr val="D2DAD6"/>
            </a:solidFill>
            <a:prstDash val="solid"/>
          </a:ln>
        </p:spPr>
      </p:sp>
      <p:sp>
        <p:nvSpPr>
          <p:cNvPr id="7" name="activity-signal-0"/>
          <p:cNvSpPr>
            <a:spLocks noGrp="1"/>
          </p:cNvSpPr>
          <p:nvPr/>
        </p:nvSpPr>
        <p:spPr>
          <a:xfrm>
            <a:off x="2324100" y="3219450"/>
            <a:ext cx="2114550" cy="0"/>
          </a:xfrm>
          <a:prstGeom prst="line">
            <a:avLst/>
          </a:prstGeom>
          <a:noFill/>
          <a:ln w="47625">
            <a:solidFill>
              <a:srgbClr val="18334A"/>
            </a:solidFill>
            <a:prstDash val="solid"/>
          </a:ln>
        </p:spPr>
      </p:sp>
      <p:sp>
        <p:nvSpPr>
          <p:cNvPr id="8" name="activity-row-label-1"/>
          <p:cNvSpPr>
            <a:spLocks noGrp="1"/>
          </p:cNvSpPr>
          <p:nvPr/>
        </p:nvSpPr>
        <p:spPr>
          <a:xfrm>
            <a:off x="952500" y="357187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Bills</a:t>
            </a:r>
            <a:endParaRPr sz="1650" b="0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activity-track-1"/>
          <p:cNvSpPr>
            <a:spLocks noGrp="1"/>
          </p:cNvSpPr>
          <p:nvPr/>
        </p:nvSpPr>
        <p:spPr>
          <a:xfrm>
            <a:off x="2324100" y="3733800"/>
            <a:ext cx="2609850" cy="0"/>
          </a:xfrm>
          <a:prstGeom prst="line">
            <a:avLst/>
          </a:prstGeom>
          <a:noFill/>
          <a:ln w="47625">
            <a:solidFill>
              <a:srgbClr val="D2DAD6"/>
            </a:solidFill>
            <a:prstDash val="solid"/>
          </a:ln>
        </p:spPr>
      </p:sp>
      <p:sp>
        <p:nvSpPr>
          <p:cNvPr id="10" name="activity-signal-1"/>
          <p:cNvSpPr>
            <a:spLocks noGrp="1"/>
          </p:cNvSpPr>
          <p:nvPr/>
        </p:nvSpPr>
        <p:spPr>
          <a:xfrm>
            <a:off x="2324100" y="3733800"/>
            <a:ext cx="1466850" cy="0"/>
          </a:xfrm>
          <a:prstGeom prst="line">
            <a:avLst/>
          </a:prstGeom>
          <a:noFill/>
          <a:ln w="47625">
            <a:solidFill>
              <a:srgbClr val="18334A"/>
            </a:solidFill>
            <a:prstDash val="solid"/>
          </a:ln>
        </p:spPr>
      </p:sp>
      <p:sp>
        <p:nvSpPr>
          <p:cNvPr id="11" name="activity-row-label-2"/>
          <p:cNvSpPr>
            <a:spLocks noGrp="1"/>
          </p:cNvSpPr>
          <p:nvPr/>
        </p:nvSpPr>
        <p:spPr>
          <a:xfrm>
            <a:off x="952500" y="408622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Transfers</a:t>
            </a:r>
            <a:endParaRPr sz="1650" b="0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activity-track-2"/>
          <p:cNvSpPr>
            <a:spLocks noGrp="1"/>
          </p:cNvSpPr>
          <p:nvPr/>
        </p:nvSpPr>
        <p:spPr>
          <a:xfrm>
            <a:off x="2324100" y="4248150"/>
            <a:ext cx="2609850" cy="0"/>
          </a:xfrm>
          <a:prstGeom prst="line">
            <a:avLst/>
          </a:prstGeom>
          <a:noFill/>
          <a:ln w="47625">
            <a:solidFill>
              <a:srgbClr val="D2DAD6"/>
            </a:solidFill>
            <a:prstDash val="solid"/>
          </a:ln>
        </p:spPr>
      </p:sp>
      <p:sp>
        <p:nvSpPr>
          <p:cNvPr id="13" name="activity-signal-2"/>
          <p:cNvSpPr>
            <a:spLocks noGrp="1"/>
          </p:cNvSpPr>
          <p:nvPr/>
        </p:nvSpPr>
        <p:spPr>
          <a:xfrm>
            <a:off x="2324100" y="4248150"/>
            <a:ext cx="1809750" cy="0"/>
          </a:xfrm>
          <a:prstGeom prst="line">
            <a:avLst/>
          </a:prstGeom>
          <a:noFill/>
          <a:ln w="47625">
            <a:solidFill>
              <a:srgbClr val="18334A"/>
            </a:solidFill>
            <a:prstDash val="solid"/>
          </a:ln>
        </p:spPr>
      </p:sp>
      <p:sp>
        <p:nvSpPr>
          <p:cNvPr id="14" name="activity-row-label-3"/>
          <p:cNvSpPr>
            <a:spLocks noGrp="1"/>
          </p:cNvSpPr>
          <p:nvPr/>
        </p:nvSpPr>
        <p:spPr>
          <a:xfrm>
            <a:off x="952500" y="460057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Balance</a:t>
            </a:r>
            <a:endParaRPr sz="1650" b="0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activity-track-3"/>
          <p:cNvSpPr>
            <a:spLocks noGrp="1"/>
          </p:cNvSpPr>
          <p:nvPr/>
        </p:nvSpPr>
        <p:spPr>
          <a:xfrm>
            <a:off x="2324100" y="4762500"/>
            <a:ext cx="2609850" cy="0"/>
          </a:xfrm>
          <a:prstGeom prst="line">
            <a:avLst/>
          </a:prstGeom>
          <a:noFill/>
          <a:ln w="47625">
            <a:solidFill>
              <a:srgbClr val="D2DAD6"/>
            </a:solidFill>
            <a:prstDash val="solid"/>
          </a:ln>
        </p:spPr>
      </p:sp>
      <p:sp>
        <p:nvSpPr>
          <p:cNvPr id="16" name="activity-signal-3"/>
          <p:cNvSpPr>
            <a:spLocks noGrp="1"/>
          </p:cNvSpPr>
          <p:nvPr/>
        </p:nvSpPr>
        <p:spPr>
          <a:xfrm>
            <a:off x="2324100" y="4762500"/>
            <a:ext cx="2362200" cy="0"/>
          </a:xfrm>
          <a:prstGeom prst="line">
            <a:avLst/>
          </a:prstGeom>
          <a:noFill/>
          <a:ln w="47625">
            <a:solidFill>
              <a:srgbClr val="20C2A4"/>
            </a:solidFill>
            <a:prstDash val="solid"/>
          </a:ln>
        </p:spPr>
      </p:sp>
      <p:sp>
        <p:nvSpPr>
          <p:cNvPr id="17" name="problem-gap-left"/>
          <p:cNvSpPr>
            <a:spLocks noGrp="1"/>
          </p:cNvSpPr>
          <p:nvPr/>
        </p:nvSpPr>
        <p:spPr>
          <a:xfrm>
            <a:off x="5238750" y="3905250"/>
            <a:ext cx="666750" cy="0"/>
          </a:xfrm>
          <a:prstGeom prst="line">
            <a:avLst/>
          </a:prstGeom>
          <a:noFill/>
          <a:ln w="28575">
            <a:solidFill>
              <a:srgbClr val="B8C5C3"/>
            </a:solidFill>
            <a:prstDash val="solid"/>
          </a:ln>
        </p:spPr>
      </p:sp>
      <p:sp>
        <p:nvSpPr>
          <p:cNvPr id="18" name="problem-question"/>
          <p:cNvSpPr>
            <a:spLocks noGrp="1"/>
          </p:cNvSpPr>
          <p:nvPr/>
        </p:nvSpPr>
        <p:spPr>
          <a:xfrm>
            <a:off x="5905500" y="3476625"/>
            <a:ext cx="876300" cy="876300"/>
          </a:xfrm>
          <a:prstGeom prst="ellipse">
            <a:avLst/>
          </a:prstGeom>
          <a:solidFill>
            <a:srgbClr val="20C2A4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?</a:t>
            </a:r>
            <a:endParaRPr sz="36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problem-gap-right"/>
          <p:cNvSpPr>
            <a:spLocks noGrp="1"/>
          </p:cNvSpPr>
          <p:nvPr/>
        </p:nvSpPr>
        <p:spPr>
          <a:xfrm>
            <a:off x="6781800" y="3905250"/>
            <a:ext cx="600075" cy="0"/>
          </a:xfrm>
          <a:prstGeom prst="line">
            <a:avLst/>
          </a:prstGeom>
          <a:noFill/>
          <a:ln w="28575">
            <a:solidFill>
              <a:srgbClr val="B8C5C3"/>
            </a:solidFill>
            <a:prstDash val="solid"/>
          </a:ln>
        </p:spPr>
      </p:sp>
      <p:sp>
        <p:nvSpPr>
          <p:cNvPr id="20" name="catalogue-heading"/>
          <p:cNvSpPr>
            <a:spLocks noGrp="1"/>
          </p:cNvSpPr>
          <p:nvPr/>
        </p:nvSpPr>
        <p:spPr>
          <a:xfrm>
            <a:off x="7677150" y="25336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PRODUCT CATALOGUE</a:t>
            </a:r>
            <a:r>
              <a:rPr lang="en-US" sz="1350" b="1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</a:t>
            </a:r>
            <a:endParaRPr lang="en-US" sz="1350" b="1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offer-mark-0"/>
          <p:cNvSpPr>
            <a:spLocks noGrp="1"/>
          </p:cNvSpPr>
          <p:nvPr/>
        </p:nvSpPr>
        <p:spPr>
          <a:xfrm>
            <a:off x="7734300" y="3171825"/>
            <a:ext cx="114300" cy="419100"/>
          </a:xfrm>
          <a:prstGeom prst="rect">
            <a:avLst/>
          </a:prstGeom>
          <a:solidFill>
            <a:srgbClr val="18334A"/>
          </a:solidFill>
          <a:ln w="0">
            <a:noFill/>
            <a:prstDash val="solid"/>
          </a:ln>
        </p:spPr>
      </p:sp>
      <p:sp>
        <p:nvSpPr>
          <p:cNvPr id="22" name="offer-label-0"/>
          <p:cNvSpPr>
            <a:spLocks noGrp="1"/>
          </p:cNvSpPr>
          <p:nvPr/>
        </p:nvSpPr>
        <p:spPr>
          <a:xfrm>
            <a:off x="8058150" y="31242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Insurance</a:t>
            </a:r>
            <a:endParaRPr sz="2025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offer-mark-1"/>
          <p:cNvSpPr>
            <a:spLocks noGrp="1"/>
          </p:cNvSpPr>
          <p:nvPr/>
        </p:nvSpPr>
        <p:spPr>
          <a:xfrm>
            <a:off x="7734300" y="3876675"/>
            <a:ext cx="114300" cy="419100"/>
          </a:xfrm>
          <a:prstGeom prst="rect">
            <a:avLst/>
          </a:prstGeom>
          <a:solidFill>
            <a:srgbClr val="20C2A4"/>
          </a:solidFill>
          <a:ln w="0">
            <a:noFill/>
            <a:prstDash val="solid"/>
          </a:ln>
        </p:spPr>
      </p:sp>
      <p:sp>
        <p:nvSpPr>
          <p:cNvPr id="24" name="offer-label-1"/>
          <p:cNvSpPr>
            <a:spLocks noGrp="1"/>
          </p:cNvSpPr>
          <p:nvPr/>
        </p:nvSpPr>
        <p:spPr>
          <a:xfrm>
            <a:off x="8058150" y="38290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Savings</a:t>
            </a:r>
            <a:endParaRPr sz="2025" b="0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" name="offer-mark-2"/>
          <p:cNvSpPr>
            <a:spLocks noGrp="1"/>
          </p:cNvSpPr>
          <p:nvPr/>
        </p:nvSpPr>
        <p:spPr>
          <a:xfrm>
            <a:off x="7734300" y="4581525"/>
            <a:ext cx="114300" cy="419100"/>
          </a:xfrm>
          <a:prstGeom prst="rect">
            <a:avLst/>
          </a:prstGeom>
          <a:solidFill>
            <a:srgbClr val="F1A47F"/>
          </a:solidFill>
          <a:ln w="0">
            <a:noFill/>
            <a:prstDash val="solid"/>
          </a:ln>
        </p:spPr>
      </p:sp>
      <p:sp>
        <p:nvSpPr>
          <p:cNvPr id="26" name="offer-label-2"/>
          <p:cNvSpPr>
            <a:spLocks noGrp="1"/>
          </p:cNvSpPr>
          <p:nvPr/>
        </p:nvSpPr>
        <p:spPr>
          <a:xfrm>
            <a:off x="8058150" y="45339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025" b="0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Other offers</a:t>
            </a:r>
            <a:endParaRPr sz="2025" b="0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problem-takeaway"/>
          <p:cNvSpPr>
            <a:spLocks noGrp="1"/>
          </p:cNvSpPr>
          <p:nvPr/>
        </p:nvSpPr>
        <p:spPr>
          <a:xfrm>
            <a:off x="933450" y="556260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Which offer should reach this customer, and when?</a:t>
            </a:r>
            <a:endParaRPr sz="225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ection-label"/>
          <p:cNvSpPr>
            <a:spLocks noGrp="1"/>
          </p:cNvSpPr>
          <p:nvPr/>
        </p:nvSpPr>
        <p:spPr>
          <a:xfrm>
            <a:off x="704850" y="4572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SOLUTION</a:t>
            </a:r>
            <a:endParaRPr sz="1350" b="1">
              <a:solidFill>
                <a:srgbClr val="D8F07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704850" y="800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THE </a:t>
            </a:r>
            <a:r>
              <a: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intelligence layer. Product-specific fit.</a:t>
            </a:r>
            <a:endParaRPr sz="36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" name="solution-subtitle"/>
          <p:cNvSpPr>
            <a:spLocks noGrp="1"/>
          </p:cNvSpPr>
          <p:nvPr/>
        </p:nvSpPr>
        <p:spPr>
          <a:xfrm>
            <a:off x="723900" y="15430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75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 shared process turns account activity into a reviewable product match.</a:t>
            </a:r>
            <a:endParaRPr sz="1875" b="0">
              <a:solidFill>
                <a:srgbClr val="C7D5D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bank-input"/>
          <p:cNvSpPr>
            <a:spLocks noGrp="1"/>
          </p:cNvSpPr>
          <p:nvPr/>
        </p:nvSpPr>
        <p:spPr>
          <a:xfrm>
            <a:off x="685800" y="2914650"/>
            <a:ext cx="2143125" cy="1409700"/>
          </a:xfrm>
          <a:prstGeom prst="roundRect">
            <a:avLst>
              <a:gd name="adj" fmla="val 5405"/>
            </a:avLst>
          </a:prstGeom>
          <a:solidFill>
            <a:srgbClr val="18334A"/>
          </a:solidFill>
          <a:ln w="14288">
            <a:solidFill>
              <a:srgbClr val="547285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BANK OR</a:t>
            </a:r>
            <a:endParaRPr sz="16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FINTECH</a:t>
            </a:r>
            <a:endParaRPr sz="16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user </a:t>
            </a:r>
            <a:endParaRPr sz="16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financial activity</a:t>
            </a:r>
            <a:endParaRPr lang="en-US" sz="16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solution-line-1"/>
          <p:cNvSpPr>
            <a:spLocks noGrp="1"/>
          </p:cNvSpPr>
          <p:nvPr/>
        </p:nvSpPr>
        <p:spPr>
          <a:xfrm>
            <a:off x="2828925" y="3619500"/>
            <a:ext cx="457200" cy="0"/>
          </a:xfrm>
          <a:prstGeom prst="line">
            <a:avLst/>
          </a:prstGeom>
          <a:noFill/>
          <a:ln w="28575">
            <a:solidFill>
              <a:srgbClr val="75909C"/>
            </a:solidFill>
            <a:prstDash val="solid"/>
          </a:ln>
        </p:spPr>
      </p:sp>
      <p:sp>
        <p:nvSpPr>
          <p:cNvPr id="6" name="coveriq-engine"/>
          <p:cNvSpPr>
            <a:spLocks noGrp="1"/>
          </p:cNvSpPr>
          <p:nvPr/>
        </p:nvSpPr>
        <p:spPr>
          <a:xfrm>
            <a:off x="3286125" y="2724150"/>
            <a:ext cx="2571750" cy="1790700"/>
          </a:xfrm>
          <a:prstGeom prst="roundRect">
            <a:avLst>
              <a:gd name="adj" fmla="val 4255"/>
            </a:avLst>
          </a:prstGeom>
          <a:solidFill>
            <a:srgbClr val="20C2A4"/>
          </a:solidFill>
          <a:ln w="0">
            <a:noFill/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COVERIQ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solution-line-2"/>
          <p:cNvSpPr>
            <a:spLocks noGrp="1"/>
          </p:cNvSpPr>
          <p:nvPr/>
        </p:nvSpPr>
        <p:spPr>
          <a:xfrm>
            <a:off x="5857875" y="3619500"/>
            <a:ext cx="504825" cy="0"/>
          </a:xfrm>
          <a:prstGeom prst="line">
            <a:avLst/>
          </a:prstGeom>
          <a:noFill/>
          <a:ln w="28575">
            <a:solidFill>
              <a:srgbClr val="75909C"/>
            </a:solidFill>
            <a:prstDash val="solid"/>
          </a:ln>
        </p:spPr>
      </p:sp>
      <p:sp>
        <p:nvSpPr>
          <p:cNvPr id="8" name="module-head"/>
          <p:cNvSpPr>
            <a:spLocks noGrp="1"/>
          </p:cNvSpPr>
          <p:nvPr/>
        </p:nvSpPr>
        <p:spPr>
          <a:xfrm>
            <a:off x="6477000" y="26289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PRODUCT FIT LOGIC</a:t>
            </a:r>
            <a:endParaRPr sz="1350" b="1">
              <a:solidFill>
                <a:srgbClr val="D8F07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insurance-module"/>
          <p:cNvSpPr>
            <a:spLocks noGrp="1"/>
          </p:cNvSpPr>
          <p:nvPr/>
        </p:nvSpPr>
        <p:spPr>
          <a:xfrm>
            <a:off x="6477000" y="3105150"/>
            <a:ext cx="2381250" cy="685800"/>
          </a:xfrm>
          <a:prstGeom prst="roundRect">
            <a:avLst>
              <a:gd name="adj" fmla="val 11111"/>
            </a:avLst>
          </a:prstGeom>
          <a:solidFill>
            <a:srgbClr val="D8F078"/>
          </a:solidFill>
          <a:ln w="0">
            <a:noFill/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Insurance</a:t>
            </a:r>
            <a:endParaRPr sz="15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Cash-flow fit</a:t>
            </a:r>
            <a:endParaRPr sz="15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future-module-a"/>
          <p:cNvSpPr>
            <a:spLocks noGrp="1"/>
          </p:cNvSpPr>
          <p:nvPr/>
        </p:nvSpPr>
        <p:spPr>
          <a:xfrm>
            <a:off x="6477000" y="3943350"/>
            <a:ext cx="1123950" cy="514350"/>
          </a:xfrm>
          <a:prstGeom prst="roundRect">
            <a:avLst>
              <a:gd name="adj" fmla="val 14815"/>
            </a:avLst>
          </a:prstGeom>
          <a:solidFill>
            <a:srgbClr val="29455A"/>
          </a:solidFill>
          <a:ln w="14288">
            <a:solidFill>
              <a:srgbClr val="547285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Savings</a:t>
            </a:r>
            <a:endParaRPr sz="1350" b="1">
              <a:solidFill>
                <a:srgbClr val="D7E3E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future-module-b"/>
          <p:cNvSpPr>
            <a:spLocks noGrp="1"/>
          </p:cNvSpPr>
          <p:nvPr/>
        </p:nvSpPr>
        <p:spPr>
          <a:xfrm>
            <a:off x="7734300" y="394335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29455A"/>
          </a:solidFill>
          <a:ln w="14288">
            <a:solidFill>
              <a:srgbClr val="547285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1">
                <a:solidFill>
                  <a:srgbClr val="D7E3E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Other offers</a:t>
            </a:r>
            <a:endParaRPr sz="1275" b="1">
              <a:solidFill>
                <a:srgbClr val="D7E3E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solution-line-3"/>
          <p:cNvSpPr>
            <a:spLocks noGrp="1"/>
          </p:cNvSpPr>
          <p:nvPr/>
        </p:nvSpPr>
        <p:spPr>
          <a:xfrm>
            <a:off x="9029700" y="3619500"/>
            <a:ext cx="495300" cy="0"/>
          </a:xfrm>
          <a:prstGeom prst="line">
            <a:avLst/>
          </a:prstGeom>
          <a:noFill/>
          <a:ln w="28575">
            <a:solidFill>
              <a:srgbClr val="75909C"/>
            </a:solidFill>
            <a:prstDash val="solid"/>
          </a:ln>
        </p:spPr>
      </p:sp>
      <p:sp>
        <p:nvSpPr>
          <p:cNvPr id="13" name="bank-review"/>
          <p:cNvSpPr>
            <a:spLocks noGrp="1"/>
          </p:cNvSpPr>
          <p:nvPr/>
        </p:nvSpPr>
        <p:spPr>
          <a:xfrm>
            <a:off x="9525000" y="2914650"/>
            <a:ext cx="1971675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USER</a:t>
            </a:r>
            <a:endParaRPr lang="en-US"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current-vs-next"/>
          <p:cNvSpPr>
            <a:spLocks noGrp="1"/>
          </p:cNvSpPr>
          <p:nvPr/>
        </p:nvSpPr>
        <p:spPr>
          <a:xfrm>
            <a:off x="742950" y="525780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Insurance is the working example</a:t>
            </a:r>
            <a:r>
              <a:rPr lang="en-US"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we will be using  for this demo</a:t>
            </a:r>
            <a:r>
              <a:rPr sz="1650" b="0">
                <a:solidFill>
                  <a:srgbClr val="C7D5D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.</a:t>
            </a:r>
            <a:endParaRPr sz="1650" b="0">
              <a:solidFill>
                <a:srgbClr val="C7D5D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section-label"/>
          <p:cNvSpPr>
            <a:spLocks noGrp="1"/>
          </p:cNvSpPr>
          <p:nvPr/>
        </p:nvSpPr>
        <p:spPr>
          <a:xfrm>
            <a:off x="704850" y="4572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HOW IT WORKS</a:t>
            </a:r>
            <a:endParaRPr sz="1350" b="1">
              <a:solidFill>
                <a:srgbClr val="20C2A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704850" y="800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What happens when I run the batch</a:t>
            </a:r>
            <a:endParaRPr sz="36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" name="workflow-spine"/>
          <p:cNvSpPr>
            <a:spLocks noGrp="1"/>
          </p:cNvSpPr>
          <p:nvPr/>
        </p:nvSpPr>
        <p:spPr>
          <a:xfrm>
            <a:off x="1257300" y="3181350"/>
            <a:ext cx="9639300" cy="0"/>
          </a:xfrm>
          <a:prstGeom prst="line">
            <a:avLst/>
          </a:prstGeom>
          <a:noFill/>
          <a:ln w="28575">
            <a:solidFill>
              <a:srgbClr val="B9C8C4"/>
            </a:solidFill>
            <a:prstDash val="solid"/>
          </a:ln>
        </p:spPr>
      </p:sp>
      <p:sp>
        <p:nvSpPr>
          <p:cNvPr id="4" name="workflow-number-0"/>
          <p:cNvSpPr>
            <a:spLocks noGrp="1"/>
          </p:cNvSpPr>
          <p:nvPr/>
        </p:nvSpPr>
        <p:spPr>
          <a:xfrm>
            <a:off x="933450" y="2857500"/>
            <a:ext cx="647700" cy="647700"/>
          </a:xfrm>
          <a:prstGeom prst="ellipse">
            <a:avLst/>
          </a:prstGeom>
          <a:solidFill>
            <a:srgbClr val="10243A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01</a:t>
            </a:r>
            <a:endParaRPr sz="142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workflow-heading-0"/>
          <p:cNvSpPr>
            <a:spLocks noGrp="1"/>
          </p:cNvSpPr>
          <p:nvPr/>
        </p:nvSpPr>
        <p:spPr>
          <a:xfrm>
            <a:off x="190500" y="3752850"/>
            <a:ext cx="2133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36-month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histories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workflow-detail-0"/>
          <p:cNvSpPr>
            <a:spLocks noGrp="1"/>
          </p:cNvSpPr>
          <p:nvPr/>
        </p:nvSpPr>
        <p:spPr>
          <a:xfrm>
            <a:off x="190500" y="45148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Sample accounts</a:t>
            </a:r>
            <a:endParaRPr sz="1350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workflow-number-1"/>
          <p:cNvSpPr>
            <a:spLocks noGrp="1"/>
          </p:cNvSpPr>
          <p:nvPr/>
        </p:nvSpPr>
        <p:spPr>
          <a:xfrm>
            <a:off x="3343275" y="2857500"/>
            <a:ext cx="647700" cy="647700"/>
          </a:xfrm>
          <a:prstGeom prst="ellipse">
            <a:avLst/>
          </a:prstGeom>
          <a:solidFill>
            <a:srgbClr val="10243A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02</a:t>
            </a:r>
            <a:endParaRPr sz="142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workflow-heading-1"/>
          <p:cNvSpPr>
            <a:spLocks noGrp="1"/>
          </p:cNvSpPr>
          <p:nvPr/>
        </p:nvSpPr>
        <p:spPr>
          <a:xfrm>
            <a:off x="2600325" y="3752850"/>
            <a:ext cx="2133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Cash-flow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features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workflow-detail-1"/>
          <p:cNvSpPr>
            <a:spLocks noGrp="1"/>
          </p:cNvSpPr>
          <p:nvPr/>
        </p:nvSpPr>
        <p:spPr>
          <a:xfrm>
            <a:off x="2600325" y="45148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Income · outflows · balance</a:t>
            </a:r>
            <a:endParaRPr sz="1350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workflow-number-2"/>
          <p:cNvSpPr>
            <a:spLocks noGrp="1"/>
          </p:cNvSpPr>
          <p:nvPr/>
        </p:nvSpPr>
        <p:spPr>
          <a:xfrm>
            <a:off x="5753100" y="2857500"/>
            <a:ext cx="647700" cy="647700"/>
          </a:xfrm>
          <a:prstGeom prst="ellipse">
            <a:avLst/>
          </a:prstGeom>
          <a:solidFill>
            <a:srgbClr val="20C2A4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03</a:t>
            </a:r>
            <a:endParaRPr sz="1425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workflow-heading-2"/>
          <p:cNvSpPr>
            <a:spLocks noGrp="1"/>
          </p:cNvSpPr>
          <p:nvPr/>
        </p:nvSpPr>
        <p:spPr>
          <a:xfrm>
            <a:off x="5010150" y="3752850"/>
            <a:ext cx="2133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Logistic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regression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workflow-detail-2"/>
          <p:cNvSpPr>
            <a:spLocks noGrp="1"/>
          </p:cNvSpPr>
          <p:nvPr/>
        </p:nvSpPr>
        <p:spPr>
          <a:xfrm>
            <a:off x="5010150" y="45148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Learns simulated outcomes</a:t>
            </a:r>
            <a:endParaRPr sz="1350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workflow-number-3"/>
          <p:cNvSpPr>
            <a:spLocks noGrp="1"/>
          </p:cNvSpPr>
          <p:nvPr/>
        </p:nvSpPr>
        <p:spPr>
          <a:xfrm>
            <a:off x="8162925" y="2857500"/>
            <a:ext cx="647700" cy="647700"/>
          </a:xfrm>
          <a:prstGeom prst="ellipse">
            <a:avLst/>
          </a:prstGeom>
          <a:solidFill>
            <a:srgbClr val="10243A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04</a:t>
            </a:r>
            <a:endParaRPr sz="142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workflow-heading-3"/>
          <p:cNvSpPr>
            <a:spLocks noGrp="1"/>
          </p:cNvSpPr>
          <p:nvPr/>
        </p:nvSpPr>
        <p:spPr>
          <a:xfrm>
            <a:off x="7419975" y="3752850"/>
            <a:ext cx="2133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Five amount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scores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workflow-detail-3"/>
          <p:cNvSpPr>
            <a:spLocks noGrp="1"/>
          </p:cNvSpPr>
          <p:nvPr/>
        </p:nvSpPr>
        <p:spPr>
          <a:xfrm>
            <a:off x="7419975" y="45148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Each scenario is tested</a:t>
            </a:r>
            <a:endParaRPr sz="1350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workflow-number-4"/>
          <p:cNvSpPr>
            <a:spLocks noGrp="1"/>
          </p:cNvSpPr>
          <p:nvPr/>
        </p:nvSpPr>
        <p:spPr>
          <a:xfrm>
            <a:off x="10572750" y="2857500"/>
            <a:ext cx="647700" cy="647700"/>
          </a:xfrm>
          <a:prstGeom prst="ellipse">
            <a:avLst/>
          </a:prstGeom>
          <a:solidFill>
            <a:srgbClr val="10243A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05</a:t>
            </a:r>
            <a:endParaRPr sz="142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workflow-heading-4"/>
          <p:cNvSpPr>
            <a:spLocks noGrp="1"/>
          </p:cNvSpPr>
          <p:nvPr/>
        </p:nvSpPr>
        <p:spPr>
          <a:xfrm>
            <a:off x="9829800" y="3752850"/>
            <a:ext cx="2133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Review or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hold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workflow-detail-4"/>
          <p:cNvSpPr>
            <a:spLocks noGrp="1"/>
          </p:cNvSpPr>
          <p:nvPr/>
        </p:nvSpPr>
        <p:spPr>
          <a:xfrm>
            <a:off x="9829800" y="45148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Demo routing threshold</a:t>
            </a:r>
            <a:endParaRPr sz="1350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workflow-disclosure"/>
          <p:cNvSpPr>
            <a:spLocks noGrp="1"/>
          </p:cNvSpPr>
          <p:nvPr/>
        </p:nvSpPr>
        <p:spPr>
          <a:xfrm>
            <a:off x="742950" y="585787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Generated histories and outcomes.</a:t>
            </a:r>
            <a:endParaRPr sz="1425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section-label"/>
          <p:cNvSpPr>
            <a:spLocks noGrp="1"/>
          </p:cNvSpPr>
          <p:nvPr/>
        </p:nvSpPr>
        <p:spPr>
          <a:xfrm>
            <a:off x="704850" y="4572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LIVE RESULT</a:t>
            </a:r>
            <a:endParaRPr sz="1350" b="1">
              <a:solidFill>
                <a:srgbClr val="D8F07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704850" y="800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6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One history. Five contribution scenarios.</a:t>
            </a:r>
            <a:endParaRPr sz="36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" name="customer-name"/>
          <p:cNvSpPr>
            <a:spLocks noGrp="1"/>
          </p:cNvSpPr>
          <p:nvPr/>
        </p:nvSpPr>
        <p:spPr>
          <a:xfrm>
            <a:off x="742950" y="1866900"/>
            <a:ext cx="3905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9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CHINEDU</a:t>
            </a:r>
            <a:endParaRPr sz="39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history-period"/>
          <p:cNvSpPr>
            <a:spLocks noGrp="1"/>
          </p:cNvSpPr>
          <p:nvPr/>
        </p:nvSpPr>
        <p:spPr>
          <a:xfrm>
            <a:off x="762000" y="26384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C8D7D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36 months of account activity</a:t>
            </a:r>
            <a:endParaRPr sz="1800" b="0">
              <a:solidFill>
                <a:srgbClr val="C8D7D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scenario-label"/>
          <p:cNvSpPr>
            <a:spLocks noGrp="1"/>
          </p:cNvSpPr>
          <p:nvPr/>
        </p:nvSpPr>
        <p:spPr>
          <a:xfrm>
            <a:off x="6191250" y="2095500"/>
            <a:ext cx="523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D8F07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ILLUSTRATIVE MONTHLY TEST AMOUNTS</a:t>
            </a:r>
            <a:endParaRPr sz="1350" b="1">
              <a:solidFill>
                <a:srgbClr val="D8F07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amount-scenario-0"/>
          <p:cNvSpPr>
            <a:spLocks noGrp="1"/>
          </p:cNvSpPr>
          <p:nvPr/>
        </p:nvSpPr>
        <p:spPr>
          <a:xfrm>
            <a:off x="6572250" y="262890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18334A"/>
          </a:solidFill>
          <a:ln w="14288">
            <a:solidFill>
              <a:srgbClr val="20C2A4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₦5,000 / month</a:t>
            </a:r>
            <a:endParaRPr sz="15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amount-scenario-1"/>
          <p:cNvSpPr>
            <a:spLocks noGrp="1"/>
          </p:cNvSpPr>
          <p:nvPr/>
        </p:nvSpPr>
        <p:spPr>
          <a:xfrm>
            <a:off x="6572250" y="306705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18334A"/>
          </a:solidFill>
          <a:ln w="14288">
            <a:solidFill>
              <a:srgbClr val="20C2A4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₦15,000 / month</a:t>
            </a:r>
            <a:endParaRPr sz="15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amount-scenario-2"/>
          <p:cNvSpPr>
            <a:spLocks noGrp="1"/>
          </p:cNvSpPr>
          <p:nvPr/>
        </p:nvSpPr>
        <p:spPr>
          <a:xfrm>
            <a:off x="6572250" y="350520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18334A"/>
          </a:solidFill>
          <a:ln w="14288">
            <a:solidFill>
              <a:srgbClr val="20C2A4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₦30,000 / month</a:t>
            </a:r>
            <a:endParaRPr sz="15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amount-scenario-3"/>
          <p:cNvSpPr>
            <a:spLocks noGrp="1"/>
          </p:cNvSpPr>
          <p:nvPr/>
        </p:nvSpPr>
        <p:spPr>
          <a:xfrm>
            <a:off x="6572250" y="394335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18334A"/>
          </a:solidFill>
          <a:ln w="14288">
            <a:solidFill>
              <a:srgbClr val="20C2A4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₦60,000 / month</a:t>
            </a:r>
            <a:endParaRPr sz="15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amount-scenario-4"/>
          <p:cNvSpPr>
            <a:spLocks noGrp="1"/>
          </p:cNvSpPr>
          <p:nvPr/>
        </p:nvSpPr>
        <p:spPr>
          <a:xfrm>
            <a:off x="6572250" y="4381500"/>
            <a:ext cx="3143250" cy="342900"/>
          </a:xfrm>
          <a:prstGeom prst="roundRect">
            <a:avLst>
              <a:gd name="adj" fmla="val 22222"/>
            </a:avLst>
          </a:prstGeom>
          <a:solidFill>
            <a:srgbClr val="18334A"/>
          </a:solidFill>
          <a:ln w="14288">
            <a:solidFill>
              <a:srgbClr val="20C2A4"/>
            </a:solidFill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₦120,000 / month</a:t>
            </a:r>
            <a:endParaRPr sz="15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scenario-note"/>
          <p:cNvSpPr>
            <a:spLocks noGrp="1"/>
          </p:cNvSpPr>
          <p:nvPr/>
        </p:nvSpPr>
        <p:spPr>
          <a:xfrm>
            <a:off x="6210300" y="4953000"/>
            <a:ext cx="521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B7C5C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Each amount is scored against the same history.</a:t>
            </a:r>
            <a:endParaRPr sz="1350" b="0">
              <a:solidFill>
                <a:srgbClr val="B7C5C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result-separator"/>
          <p:cNvSpPr>
            <a:spLocks noGrp="1"/>
          </p:cNvSpPr>
          <p:nvPr/>
        </p:nvSpPr>
        <p:spPr>
          <a:xfrm>
            <a:off x="762000" y="5467350"/>
            <a:ext cx="10668000" cy="0"/>
          </a:xfrm>
          <a:prstGeom prst="line">
            <a:avLst/>
          </a:prstGeom>
          <a:noFill/>
          <a:ln w="19050">
            <a:solidFill>
              <a:srgbClr val="334A5D"/>
            </a:solidFill>
            <a:prstDash val="solid"/>
          </a:ln>
        </p:spPr>
      </p:sp>
      <p:sp>
        <p:nvSpPr>
          <p:cNvPr id="13" name="result-bridge"/>
          <p:cNvSpPr>
            <a:spLocks noGrp="1"/>
          </p:cNvSpPr>
          <p:nvPr/>
        </p:nvSpPr>
        <p:spPr>
          <a:xfrm>
            <a:off x="762000" y="56959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endParaRPr sz="210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ection-label"/>
          <p:cNvSpPr>
            <a:spLocks noGrp="1"/>
          </p:cNvSpPr>
          <p:nvPr/>
        </p:nvSpPr>
        <p:spPr>
          <a:xfrm>
            <a:off x="704850" y="4572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SCALE AND NEXT THREE MONTHS</a:t>
            </a:r>
            <a:endParaRPr sz="1350" b="1">
              <a:solidFill>
                <a:srgbClr val="20C2A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704850" y="800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l">
              <a:def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</a:t>
            </a:r>
            <a:r>
              <a:rPr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SDK</a:t>
            </a:r>
            <a:r>
              <a:rPr lang="en-US" sz="36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PLUG INTO THEIR SYETEM</a:t>
            </a:r>
            <a:endParaRPr lang="en-US" sz="36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" name="scale-flow-left"/>
          <p:cNvSpPr>
            <a:spLocks noGrp="1"/>
          </p:cNvSpPr>
          <p:nvPr/>
        </p:nvSpPr>
        <p:spPr>
          <a:xfrm>
            <a:off x="800100" y="179070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BANKS +</a:t>
            </a:r>
            <a:endParaRPr sz="195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FINTECHS</a:t>
            </a:r>
            <a:endParaRPr sz="195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scale-flow-a"/>
          <p:cNvSpPr>
            <a:spLocks noGrp="1"/>
          </p:cNvSpPr>
          <p:nvPr/>
        </p:nvSpPr>
        <p:spPr>
          <a:xfrm>
            <a:off x="3086100" y="2181225"/>
            <a:ext cx="1238250" cy="0"/>
          </a:xfrm>
          <a:prstGeom prst="line">
            <a:avLst/>
          </a:prstGeom>
          <a:noFill/>
          <a:ln w="28575">
            <a:solidFill>
              <a:srgbClr val="B8C5C3"/>
            </a:solidFill>
            <a:prstDash val="solid"/>
          </a:ln>
        </p:spPr>
      </p:sp>
      <p:sp>
        <p:nvSpPr>
          <p:cNvPr id="5" name="scale-core"/>
          <p:cNvSpPr>
            <a:spLocks noGrp="1"/>
          </p:cNvSpPr>
          <p:nvPr/>
        </p:nvSpPr>
        <p:spPr>
          <a:xfrm>
            <a:off x="4324350" y="1724025"/>
            <a:ext cx="2857500" cy="914400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0">
            <a:noFill/>
            <a:prstDash val="solid"/>
          </a:ln>
        </p:spPr>
        <p:txBody>
          <a:bodyPr wrap="square" lIns="114300" tIns="76200" rIns="114300" bIns="76200" anchor="ctr"/>
          <a:lstStyle>
            <a:def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COVERIQ</a:t>
            </a:r>
            <a:endParaRPr sz="16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Shared intake + routing</a:t>
            </a:r>
            <a:endParaRPr sz="16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" name="scale-flow-b"/>
          <p:cNvSpPr>
            <a:spLocks noGrp="1"/>
          </p:cNvSpPr>
          <p:nvPr/>
        </p:nvSpPr>
        <p:spPr>
          <a:xfrm>
            <a:off x="7181850" y="2181225"/>
            <a:ext cx="1238250" cy="0"/>
          </a:xfrm>
          <a:prstGeom prst="line">
            <a:avLst/>
          </a:prstGeom>
          <a:noFill/>
          <a:ln w="28575">
            <a:solidFill>
              <a:srgbClr val="B8C5C3"/>
            </a:solidFill>
            <a:prstDash val="solid"/>
          </a:ln>
        </p:spPr>
      </p:sp>
      <p:sp>
        <p:nvSpPr>
          <p:cNvPr id="7" name="scale-out"/>
          <p:cNvSpPr>
            <a:spLocks noGrp="1"/>
          </p:cNvSpPr>
          <p:nvPr/>
        </p:nvSpPr>
        <p:spPr>
          <a:xfrm>
            <a:off x="8420100" y="1790700"/>
            <a:ext cx="3067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PRODUCT CATALOGUE</a:t>
            </a:r>
            <a:endParaRPr sz="1725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72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with product-specific fit logic</a:t>
            </a:r>
            <a:endParaRPr sz="1725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roadmap-line"/>
          <p:cNvSpPr>
            <a:spLocks noGrp="1"/>
          </p:cNvSpPr>
          <p:nvPr/>
        </p:nvSpPr>
        <p:spPr>
          <a:xfrm>
            <a:off x="1524000" y="4038600"/>
            <a:ext cx="9144000" cy="0"/>
          </a:xfrm>
          <a:prstGeom prst="line">
            <a:avLst/>
          </a:prstGeom>
          <a:noFill/>
          <a:ln w="28575">
            <a:solidFill>
              <a:srgbClr val="B8C5C3"/>
            </a:solidFill>
            <a:prstDash val="solid"/>
          </a:ln>
        </p:spPr>
      </p:sp>
      <p:sp>
        <p:nvSpPr>
          <p:cNvPr id="9" name="roadmap-node-0"/>
          <p:cNvSpPr>
            <a:spLocks noGrp="1"/>
          </p:cNvSpPr>
          <p:nvPr/>
        </p:nvSpPr>
        <p:spPr>
          <a:xfrm>
            <a:off x="2000250" y="3752850"/>
            <a:ext cx="571500" cy="571500"/>
          </a:xfrm>
          <a:prstGeom prst="ellipse">
            <a:avLst/>
          </a:prstGeom>
          <a:solidFill>
            <a:srgbClr val="20C2A4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endParaRPr sz="157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roadmap-month-0"/>
          <p:cNvSpPr>
            <a:spLocks noGrp="1"/>
          </p:cNvSpPr>
          <p:nvPr/>
        </p:nvSpPr>
        <p:spPr>
          <a:xfrm>
            <a:off x="952500" y="45434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MONTH 1</a:t>
            </a:r>
            <a:endParaRPr sz="1350" b="1">
              <a:solidFill>
                <a:srgbClr val="20C2A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roadmap-label-0"/>
          <p:cNvSpPr>
            <a:spLocks noGrp="1"/>
          </p:cNvSpPr>
          <p:nvPr/>
        </p:nvSpPr>
        <p:spPr>
          <a:xfrm>
            <a:off x="762000" y="48958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Integration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+ catalogue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roadmap-node-1"/>
          <p:cNvSpPr>
            <a:spLocks noGrp="1"/>
          </p:cNvSpPr>
          <p:nvPr/>
        </p:nvSpPr>
        <p:spPr>
          <a:xfrm>
            <a:off x="5810250" y="3752850"/>
            <a:ext cx="571500" cy="571500"/>
          </a:xfrm>
          <a:prstGeom prst="ellipse">
            <a:avLst/>
          </a:prstGeom>
          <a:solidFill>
            <a:srgbClr val="10243A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</a:t>
            </a:r>
            <a:endParaRPr sz="157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roadmap-month-1"/>
          <p:cNvSpPr>
            <a:spLocks noGrp="1"/>
          </p:cNvSpPr>
          <p:nvPr/>
        </p:nvSpPr>
        <p:spPr>
          <a:xfrm>
            <a:off x="4762500" y="45434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MONTH 2</a:t>
            </a:r>
            <a:endParaRPr sz="1350" b="1">
              <a:solidFill>
                <a:srgbClr val="20C2A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roadmap-label-1"/>
          <p:cNvSpPr>
            <a:spLocks noGrp="1"/>
          </p:cNvSpPr>
          <p:nvPr/>
        </p:nvSpPr>
        <p:spPr>
          <a:xfrm>
            <a:off x="4572000" y="48958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Product-specific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fit modules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roadmap-node-2"/>
          <p:cNvSpPr>
            <a:spLocks noGrp="1"/>
          </p:cNvSpPr>
          <p:nvPr/>
        </p:nvSpPr>
        <p:spPr>
          <a:xfrm>
            <a:off x="9620250" y="3752850"/>
            <a:ext cx="571500" cy="571500"/>
          </a:xfrm>
          <a:prstGeom prst="ellipse">
            <a:avLst/>
          </a:prstGeom>
          <a:solidFill>
            <a:srgbClr val="D8F078"/>
          </a:solidFill>
          <a:ln w="0">
            <a:noFill/>
            <a:prstDash val="solid"/>
          </a:ln>
        </p:spPr>
        <p:txBody>
          <a:bodyPr wrap="square" lIns="66675" tIns="66675" rIns="66675" bIns="66675" anchor="ctr"/>
          <a:lstStyle>
            <a:def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75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</a:t>
            </a:r>
            <a:endParaRPr sz="1575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roadmap-month-2"/>
          <p:cNvSpPr>
            <a:spLocks noGrp="1"/>
          </p:cNvSpPr>
          <p:nvPr/>
        </p:nvSpPr>
        <p:spPr>
          <a:xfrm>
            <a:off x="8572500" y="45434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20C2A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MONTH 3</a:t>
            </a:r>
            <a:endParaRPr sz="1350" b="1">
              <a:solidFill>
                <a:srgbClr val="20C2A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roadmap-label-2"/>
          <p:cNvSpPr>
            <a:spLocks noGrp="1"/>
          </p:cNvSpPr>
          <p:nvPr/>
        </p:nvSpPr>
        <p:spPr>
          <a:xfrm>
            <a:off x="8382000" y="48958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Shadow pilot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def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B172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+ measurement</a:t>
            </a:r>
            <a:endParaRPr sz="1800" b="1">
              <a:solidFill>
                <a:srgbClr val="0B172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scale-impact"/>
          <p:cNvSpPr>
            <a:spLocks noGrp="1"/>
          </p:cNvSpPr>
          <p:nvPr/>
        </p:nvSpPr>
        <p:spPr>
          <a:xfrm>
            <a:off x="781050" y="6019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defPPr>
            <a:lvl1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  <a:lvl2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2pPr>
            <a:lvl3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3pPr>
            <a:lvl4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4pPr>
            <a:lvl5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5pPr>
            <a:lvl6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6pPr>
            <a:lvl7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7pPr>
            <a:lvl8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8pPr>
            <a:lvl9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9pPr>
          </a:lstStyle>
          <a:p>
            <a:pPr algn="ctr">
              <a:def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58677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Measure relevance, customer response and poor-fit referrals.</a:t>
            </a:r>
            <a:endParaRPr sz="1425" b="0">
              <a:solidFill>
                <a:srgbClr val="58677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630805" y="1035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1612</Words>
  <Application>WPS Presentation</Application>
  <PresentationFormat>Converted Presentation</PresentationFormat>
  <Paragraphs>180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Segoe UI</vt:lpstr>
      <vt:lpstr>Microsoft YaHei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2026-10-22T20:08:29Z</dcterms:created>
  <dcterms:modified xsi:type="dcterms:W3CDTF">2026-10-22T20:08:29Z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C3AE0533CEA145538728C0D5C463C9D1_12</vt:lpwstr>
  </property>
  <property fmtid="{D5CDD505-2E9C-101B-9397-08002B2CF9AE}" pid="3" name="KSOProductBuildVer">
    <vt:lpwstr>2057-12.2.0.23206</vt:lpwstr>
  </property>
</Properties>
</file>