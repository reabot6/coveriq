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2" Type="http://schemas.openxmlformats.org/officeDocument/2006/relationships/notesSlide" Target="../notesSlides/notesSlide6.xml"/><Relationship Id="rId11" Type="http://schemas.openxmlformats.org/officeDocument/2006/relationships/slideLayout" Target="../slideLayouts/slideLayout6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wordmark"/>
          <p:cNvSpPr>
            <a:spLocks noGrp="1"/>
          </p:cNvSpPr>
          <p:nvPr/>
        </p:nvSpPr>
        <p:spPr>
          <a:xfrm>
            <a:off x="742950" y="552450"/>
            <a:ext cx="342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5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COVERIQ</a:t>
            </a:r>
            <a:endParaRPr sz="2550" b="1">
              <a:solidFill>
                <a:srgbClr val="20C2A4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" name="category"/>
          <p:cNvSpPr>
            <a:spLocks noGrp="1"/>
          </p:cNvSpPr>
          <p:nvPr/>
        </p:nvSpPr>
        <p:spPr>
          <a:xfrm>
            <a:off x="762000" y="1181100"/>
            <a:ext cx="514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BANK + FINTECH INTELLIGENCE </a:t>
            </a:r>
            <a:r>
              <a:rPr lang="en-US" sz="1350" b="1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 SYSTEM</a:t>
            </a:r>
            <a:endParaRPr lang="en-US" sz="1350" b="1">
              <a:solidFill>
                <a:srgbClr val="B7C5CC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" name="cover-title"/>
          <p:cNvSpPr>
            <a:spLocks noGrp="1"/>
          </p:cNvSpPr>
          <p:nvPr/>
        </p:nvSpPr>
        <p:spPr>
          <a:xfrm>
            <a:off x="742950" y="1885950"/>
            <a:ext cx="6572250" cy="2571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Better product</a:t>
            </a:r>
            <a:endParaRPr sz="49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matches from</a:t>
            </a:r>
            <a:endParaRPr sz="49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def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49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financial activity</a:t>
            </a:r>
            <a:endParaRPr sz="49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" name="team"/>
          <p:cNvSpPr>
            <a:spLocks noGrp="1"/>
          </p:cNvSpPr>
          <p:nvPr/>
        </p:nvSpPr>
        <p:spPr>
          <a:xfrm>
            <a:off x="762000" y="54483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REABOT6</a:t>
            </a:r>
            <a:endParaRPr sz="1500" b="1">
              <a:solidFill>
                <a:srgbClr val="D8F078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team-members"/>
          <p:cNvSpPr>
            <a:spLocks noGrp="1"/>
          </p:cNvSpPr>
          <p:nvPr/>
        </p:nvSpPr>
        <p:spPr>
          <a:xfrm>
            <a:off x="762000" y="58293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E9F0F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Onimisi Adeiza Adeolu  ·  Divine Owolabi Oluwafisayomi</a:t>
            </a:r>
            <a:endParaRPr sz="1425" b="0">
              <a:solidFill>
                <a:srgbClr val="E9F0F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6" name="cover-flow-a"/>
          <p:cNvSpPr>
            <a:spLocks noGrp="1"/>
          </p:cNvSpPr>
          <p:nvPr/>
        </p:nvSpPr>
        <p:spPr>
          <a:xfrm>
            <a:off x="8610600" y="3276600"/>
            <a:ext cx="647700" cy="0"/>
          </a:xfrm>
          <a:prstGeom prst="line">
            <a:avLst/>
          </a:prstGeom>
          <a:noFill/>
          <a:ln w="28575">
            <a:solidFill>
              <a:srgbClr val="507080"/>
            </a:solidFill>
            <a:prstDash val="solid"/>
          </a:ln>
        </p:spPr>
      </p:sp>
      <p:sp>
        <p:nvSpPr>
          <p:cNvPr id="7" name="cover-flow-b"/>
          <p:cNvSpPr>
            <a:spLocks noGrp="1"/>
          </p:cNvSpPr>
          <p:nvPr/>
        </p:nvSpPr>
        <p:spPr>
          <a:xfrm>
            <a:off x="10306050" y="3276600"/>
            <a:ext cx="552450" cy="0"/>
          </a:xfrm>
          <a:prstGeom prst="line">
            <a:avLst/>
          </a:prstGeom>
          <a:noFill/>
          <a:ln w="28575">
            <a:solidFill>
              <a:srgbClr val="507080"/>
            </a:solidFill>
            <a:prstDash val="solid"/>
          </a:ln>
        </p:spPr>
      </p:sp>
      <p:sp>
        <p:nvSpPr>
          <p:cNvPr id="8" name="activity-node"/>
          <p:cNvSpPr>
            <a:spLocks noGrp="1"/>
          </p:cNvSpPr>
          <p:nvPr/>
        </p:nvSpPr>
        <p:spPr>
          <a:xfrm>
            <a:off x="7562850" y="2752725"/>
            <a:ext cx="1047750" cy="1047750"/>
          </a:xfrm>
          <a:prstGeom prst="ellipse">
            <a:avLst/>
          </a:prstGeom>
          <a:solidFill>
            <a:srgbClr val="18334A"/>
          </a:solidFill>
          <a:ln w="19050">
            <a:solidFill>
              <a:srgbClr val="20C2A4"/>
            </a:solidFill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DATA</a:t>
            </a:r>
            <a:endParaRPr sz="13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coveriq-node"/>
          <p:cNvSpPr>
            <a:spLocks noGrp="1"/>
          </p:cNvSpPr>
          <p:nvPr/>
        </p:nvSpPr>
        <p:spPr>
          <a:xfrm>
            <a:off x="9258300" y="2752725"/>
            <a:ext cx="1047750" cy="1047750"/>
          </a:xfrm>
          <a:prstGeom prst="ellipse">
            <a:avLst/>
          </a:prstGeom>
          <a:solidFill>
            <a:srgbClr val="20C2A4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FIT</a:t>
            </a:r>
            <a:endParaRPr sz="1725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offer-node"/>
          <p:cNvSpPr>
            <a:spLocks noGrp="1"/>
          </p:cNvSpPr>
          <p:nvPr/>
        </p:nvSpPr>
        <p:spPr>
          <a:xfrm>
            <a:off x="10858500" y="2752725"/>
            <a:ext cx="1047750" cy="1047750"/>
          </a:xfrm>
          <a:prstGeom prst="ellipse">
            <a:avLst/>
          </a:prstGeom>
          <a:solidFill>
            <a:srgbClr val="D8F078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OFFER</a:t>
            </a:r>
            <a:endParaRPr sz="135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activity-label"/>
          <p:cNvSpPr>
            <a:spLocks noGrp="1"/>
          </p:cNvSpPr>
          <p:nvPr/>
        </p:nvSpPr>
        <p:spPr>
          <a:xfrm>
            <a:off x="7277100" y="40005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Account activity</a:t>
            </a:r>
            <a:endParaRPr sz="1425" b="0">
              <a:solidFill>
                <a:srgbClr val="D7E2E5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engine-label"/>
          <p:cNvSpPr>
            <a:spLocks noGrp="1"/>
          </p:cNvSpPr>
          <p:nvPr/>
        </p:nvSpPr>
        <p:spPr>
          <a:xfrm>
            <a:off x="9115425" y="4000500"/>
            <a:ext cx="1333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CoverIQ</a:t>
            </a:r>
            <a:endParaRPr sz="142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offer-label"/>
          <p:cNvSpPr>
            <a:spLocks noGrp="1"/>
          </p:cNvSpPr>
          <p:nvPr/>
        </p:nvSpPr>
        <p:spPr>
          <a:xfrm>
            <a:off x="10572750" y="40005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D7E2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Relevant offer</a:t>
            </a:r>
            <a:endParaRPr sz="1425" b="0">
              <a:solidFill>
                <a:srgbClr val="D7E2E5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section-label"/>
          <p:cNvSpPr>
            <a:spLocks noGrp="1"/>
          </p:cNvSpPr>
          <p:nvPr/>
        </p:nvSpPr>
        <p:spPr>
          <a:xfrm>
            <a:off x="704850" y="457200"/>
            <a:ext cx="571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THE PROBLEM</a:t>
            </a:r>
            <a:endParaRPr sz="1350" b="1">
              <a:solidFill>
                <a:srgbClr val="20C2A4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" name="slide-title"/>
          <p:cNvSpPr>
            <a:spLocks noGrp="1"/>
          </p:cNvSpPr>
          <p:nvPr/>
        </p:nvSpPr>
        <p:spPr>
          <a:xfrm>
            <a:off x="704850" y="8001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The product matching gap</a:t>
            </a:r>
            <a:endParaRPr sz="36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" name="problem-subtitle"/>
          <p:cNvSpPr>
            <a:spLocks noGrp="1"/>
          </p:cNvSpPr>
          <p:nvPr/>
        </p:nvSpPr>
        <p:spPr>
          <a:xfrm>
            <a:off x="695325" y="1504950"/>
            <a:ext cx="9810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Customers </a:t>
            </a:r>
            <a:r>
              <a:rPr lang="en-US" sz="20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 sometimes recieve products that do not relate to them or it does and its not just the right time</a:t>
            </a:r>
            <a:endParaRPr lang="en-US" sz="2025" b="0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" name="activity-heading"/>
          <p:cNvSpPr>
            <a:spLocks noGrp="1"/>
          </p:cNvSpPr>
          <p:nvPr/>
        </p:nvSpPr>
        <p:spPr>
          <a:xfrm>
            <a:off x="933450" y="253365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CUSTOMER ACTIVITY</a:t>
            </a:r>
            <a:endParaRPr sz="1350" b="1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activity-row-label-0"/>
          <p:cNvSpPr>
            <a:spLocks noGrp="1"/>
          </p:cNvSpPr>
          <p:nvPr/>
        </p:nvSpPr>
        <p:spPr>
          <a:xfrm>
            <a:off x="952500" y="3057525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Income</a:t>
            </a:r>
            <a:endParaRPr sz="1650" b="0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6" name="activity-track-0"/>
          <p:cNvSpPr>
            <a:spLocks noGrp="1"/>
          </p:cNvSpPr>
          <p:nvPr/>
        </p:nvSpPr>
        <p:spPr>
          <a:xfrm>
            <a:off x="2324100" y="3219450"/>
            <a:ext cx="2609850" cy="0"/>
          </a:xfrm>
          <a:prstGeom prst="line">
            <a:avLst/>
          </a:prstGeom>
          <a:noFill/>
          <a:ln w="47625">
            <a:solidFill>
              <a:srgbClr val="D2DAD6"/>
            </a:solidFill>
            <a:prstDash val="solid"/>
          </a:ln>
        </p:spPr>
      </p:sp>
      <p:sp>
        <p:nvSpPr>
          <p:cNvPr id="7" name="activity-signal-0"/>
          <p:cNvSpPr>
            <a:spLocks noGrp="1"/>
          </p:cNvSpPr>
          <p:nvPr/>
        </p:nvSpPr>
        <p:spPr>
          <a:xfrm>
            <a:off x="2324100" y="3219450"/>
            <a:ext cx="2114550" cy="0"/>
          </a:xfrm>
          <a:prstGeom prst="line">
            <a:avLst/>
          </a:prstGeom>
          <a:noFill/>
          <a:ln w="47625">
            <a:solidFill>
              <a:srgbClr val="18334A"/>
            </a:solidFill>
            <a:prstDash val="solid"/>
          </a:ln>
        </p:spPr>
      </p:sp>
      <p:sp>
        <p:nvSpPr>
          <p:cNvPr id="8" name="activity-row-label-1"/>
          <p:cNvSpPr>
            <a:spLocks noGrp="1"/>
          </p:cNvSpPr>
          <p:nvPr/>
        </p:nvSpPr>
        <p:spPr>
          <a:xfrm>
            <a:off x="952500" y="3571875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Bills</a:t>
            </a:r>
            <a:endParaRPr sz="1650" b="0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activity-track-1"/>
          <p:cNvSpPr>
            <a:spLocks noGrp="1"/>
          </p:cNvSpPr>
          <p:nvPr/>
        </p:nvSpPr>
        <p:spPr>
          <a:xfrm>
            <a:off x="2324100" y="3733800"/>
            <a:ext cx="2609850" cy="0"/>
          </a:xfrm>
          <a:prstGeom prst="line">
            <a:avLst/>
          </a:prstGeom>
          <a:noFill/>
          <a:ln w="47625">
            <a:solidFill>
              <a:srgbClr val="D2DAD6"/>
            </a:solidFill>
            <a:prstDash val="solid"/>
          </a:ln>
        </p:spPr>
      </p:sp>
      <p:sp>
        <p:nvSpPr>
          <p:cNvPr id="10" name="activity-signal-1"/>
          <p:cNvSpPr>
            <a:spLocks noGrp="1"/>
          </p:cNvSpPr>
          <p:nvPr/>
        </p:nvSpPr>
        <p:spPr>
          <a:xfrm>
            <a:off x="2324100" y="3733800"/>
            <a:ext cx="1466850" cy="0"/>
          </a:xfrm>
          <a:prstGeom prst="line">
            <a:avLst/>
          </a:prstGeom>
          <a:noFill/>
          <a:ln w="47625">
            <a:solidFill>
              <a:srgbClr val="18334A"/>
            </a:solidFill>
            <a:prstDash val="solid"/>
          </a:ln>
        </p:spPr>
      </p:sp>
      <p:sp>
        <p:nvSpPr>
          <p:cNvPr id="11" name="activity-row-label-2"/>
          <p:cNvSpPr>
            <a:spLocks noGrp="1"/>
          </p:cNvSpPr>
          <p:nvPr/>
        </p:nvSpPr>
        <p:spPr>
          <a:xfrm>
            <a:off x="952500" y="4086225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Transfers</a:t>
            </a:r>
            <a:endParaRPr sz="1650" b="0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activity-track-2"/>
          <p:cNvSpPr>
            <a:spLocks noGrp="1"/>
          </p:cNvSpPr>
          <p:nvPr/>
        </p:nvSpPr>
        <p:spPr>
          <a:xfrm>
            <a:off x="2324100" y="4248150"/>
            <a:ext cx="2609850" cy="0"/>
          </a:xfrm>
          <a:prstGeom prst="line">
            <a:avLst/>
          </a:prstGeom>
          <a:noFill/>
          <a:ln w="47625">
            <a:solidFill>
              <a:srgbClr val="D2DAD6"/>
            </a:solidFill>
            <a:prstDash val="solid"/>
          </a:ln>
        </p:spPr>
      </p:sp>
      <p:sp>
        <p:nvSpPr>
          <p:cNvPr id="13" name="activity-signal-2"/>
          <p:cNvSpPr>
            <a:spLocks noGrp="1"/>
          </p:cNvSpPr>
          <p:nvPr/>
        </p:nvSpPr>
        <p:spPr>
          <a:xfrm>
            <a:off x="2324100" y="4248150"/>
            <a:ext cx="1809750" cy="0"/>
          </a:xfrm>
          <a:prstGeom prst="line">
            <a:avLst/>
          </a:prstGeom>
          <a:noFill/>
          <a:ln w="47625">
            <a:solidFill>
              <a:srgbClr val="18334A"/>
            </a:solidFill>
            <a:prstDash val="solid"/>
          </a:ln>
        </p:spPr>
      </p:sp>
      <p:sp>
        <p:nvSpPr>
          <p:cNvPr id="14" name="activity-row-label-3"/>
          <p:cNvSpPr>
            <a:spLocks noGrp="1"/>
          </p:cNvSpPr>
          <p:nvPr/>
        </p:nvSpPr>
        <p:spPr>
          <a:xfrm>
            <a:off x="952500" y="4600575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50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Balance</a:t>
            </a:r>
            <a:endParaRPr sz="1650" b="0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activity-track-3"/>
          <p:cNvSpPr>
            <a:spLocks noGrp="1"/>
          </p:cNvSpPr>
          <p:nvPr/>
        </p:nvSpPr>
        <p:spPr>
          <a:xfrm>
            <a:off x="2324100" y="4762500"/>
            <a:ext cx="2609850" cy="0"/>
          </a:xfrm>
          <a:prstGeom prst="line">
            <a:avLst/>
          </a:prstGeom>
          <a:noFill/>
          <a:ln w="47625">
            <a:solidFill>
              <a:srgbClr val="D2DAD6"/>
            </a:solidFill>
            <a:prstDash val="solid"/>
          </a:ln>
        </p:spPr>
      </p:sp>
      <p:sp>
        <p:nvSpPr>
          <p:cNvPr id="16" name="activity-signal-3"/>
          <p:cNvSpPr>
            <a:spLocks noGrp="1"/>
          </p:cNvSpPr>
          <p:nvPr/>
        </p:nvSpPr>
        <p:spPr>
          <a:xfrm>
            <a:off x="2324100" y="4762500"/>
            <a:ext cx="2362200" cy="0"/>
          </a:xfrm>
          <a:prstGeom prst="line">
            <a:avLst/>
          </a:prstGeom>
          <a:noFill/>
          <a:ln w="47625">
            <a:solidFill>
              <a:srgbClr val="20C2A4"/>
            </a:solidFill>
            <a:prstDash val="solid"/>
          </a:ln>
        </p:spPr>
      </p:sp>
      <p:sp>
        <p:nvSpPr>
          <p:cNvPr id="17" name="problem-gap-left"/>
          <p:cNvSpPr>
            <a:spLocks noGrp="1"/>
          </p:cNvSpPr>
          <p:nvPr/>
        </p:nvSpPr>
        <p:spPr>
          <a:xfrm>
            <a:off x="5238750" y="3905250"/>
            <a:ext cx="666750" cy="0"/>
          </a:xfrm>
          <a:prstGeom prst="line">
            <a:avLst/>
          </a:prstGeom>
          <a:noFill/>
          <a:ln w="28575">
            <a:solidFill>
              <a:srgbClr val="B8C5C3"/>
            </a:solidFill>
            <a:prstDash val="solid"/>
          </a:ln>
        </p:spPr>
      </p:sp>
      <p:sp>
        <p:nvSpPr>
          <p:cNvPr id="18" name="problem-question"/>
          <p:cNvSpPr>
            <a:spLocks noGrp="1"/>
          </p:cNvSpPr>
          <p:nvPr/>
        </p:nvSpPr>
        <p:spPr>
          <a:xfrm>
            <a:off x="5905500" y="3476625"/>
            <a:ext cx="876300" cy="876300"/>
          </a:xfrm>
          <a:prstGeom prst="ellipse">
            <a:avLst/>
          </a:prstGeom>
          <a:solidFill>
            <a:srgbClr val="20C2A4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?</a:t>
            </a:r>
            <a:endParaRPr sz="36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9" name="problem-gap-right"/>
          <p:cNvSpPr>
            <a:spLocks noGrp="1"/>
          </p:cNvSpPr>
          <p:nvPr/>
        </p:nvSpPr>
        <p:spPr>
          <a:xfrm>
            <a:off x="6781800" y="3905250"/>
            <a:ext cx="600075" cy="0"/>
          </a:xfrm>
          <a:prstGeom prst="line">
            <a:avLst/>
          </a:prstGeom>
          <a:noFill/>
          <a:ln w="28575">
            <a:solidFill>
              <a:srgbClr val="B8C5C3"/>
            </a:solidFill>
            <a:prstDash val="solid"/>
          </a:ln>
        </p:spPr>
      </p:sp>
      <p:sp>
        <p:nvSpPr>
          <p:cNvPr id="20" name="catalogue-heading"/>
          <p:cNvSpPr>
            <a:spLocks noGrp="1"/>
          </p:cNvSpPr>
          <p:nvPr/>
        </p:nvSpPr>
        <p:spPr>
          <a:xfrm>
            <a:off x="7677150" y="2533650"/>
            <a:ext cx="361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PRODUCT CATALOGUE</a:t>
            </a:r>
            <a:r>
              <a:rPr lang="en-US" sz="1350" b="1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 </a:t>
            </a:r>
            <a:endParaRPr lang="en-US" sz="1350" b="1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1" name="offer-mark-0"/>
          <p:cNvSpPr>
            <a:spLocks noGrp="1"/>
          </p:cNvSpPr>
          <p:nvPr/>
        </p:nvSpPr>
        <p:spPr>
          <a:xfrm>
            <a:off x="7734300" y="3171825"/>
            <a:ext cx="114300" cy="419100"/>
          </a:xfrm>
          <a:prstGeom prst="rect">
            <a:avLst/>
          </a:prstGeom>
          <a:solidFill>
            <a:srgbClr val="18334A"/>
          </a:solidFill>
          <a:ln w="0">
            <a:noFill/>
            <a:prstDash val="solid"/>
          </a:ln>
        </p:spPr>
      </p:sp>
      <p:sp>
        <p:nvSpPr>
          <p:cNvPr id="22" name="offer-label-0"/>
          <p:cNvSpPr>
            <a:spLocks noGrp="1"/>
          </p:cNvSpPr>
          <p:nvPr/>
        </p:nvSpPr>
        <p:spPr>
          <a:xfrm>
            <a:off x="8058150" y="31242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Insurance</a:t>
            </a:r>
            <a:endParaRPr sz="2025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3" name="offer-mark-1"/>
          <p:cNvSpPr>
            <a:spLocks noGrp="1"/>
          </p:cNvSpPr>
          <p:nvPr/>
        </p:nvSpPr>
        <p:spPr>
          <a:xfrm>
            <a:off x="7734300" y="3876675"/>
            <a:ext cx="114300" cy="419100"/>
          </a:xfrm>
          <a:prstGeom prst="rect">
            <a:avLst/>
          </a:prstGeom>
          <a:solidFill>
            <a:srgbClr val="20C2A4"/>
          </a:solidFill>
          <a:ln w="0">
            <a:noFill/>
            <a:prstDash val="solid"/>
          </a:ln>
        </p:spPr>
      </p:sp>
      <p:sp>
        <p:nvSpPr>
          <p:cNvPr id="24" name="offer-label-1"/>
          <p:cNvSpPr>
            <a:spLocks noGrp="1"/>
          </p:cNvSpPr>
          <p:nvPr/>
        </p:nvSpPr>
        <p:spPr>
          <a:xfrm>
            <a:off x="8058150" y="382905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Savings</a:t>
            </a:r>
            <a:endParaRPr sz="2025" b="0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5" name="offer-mark-2"/>
          <p:cNvSpPr>
            <a:spLocks noGrp="1"/>
          </p:cNvSpPr>
          <p:nvPr/>
        </p:nvSpPr>
        <p:spPr>
          <a:xfrm>
            <a:off x="7734300" y="4581525"/>
            <a:ext cx="114300" cy="419100"/>
          </a:xfrm>
          <a:prstGeom prst="rect">
            <a:avLst/>
          </a:prstGeom>
          <a:solidFill>
            <a:srgbClr val="F1A47F"/>
          </a:solidFill>
          <a:ln w="0">
            <a:noFill/>
            <a:prstDash val="solid"/>
          </a:ln>
        </p:spPr>
      </p:sp>
      <p:sp>
        <p:nvSpPr>
          <p:cNvPr id="26" name="offer-label-2"/>
          <p:cNvSpPr>
            <a:spLocks noGrp="1"/>
          </p:cNvSpPr>
          <p:nvPr/>
        </p:nvSpPr>
        <p:spPr>
          <a:xfrm>
            <a:off x="8058150" y="45339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25" b="0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Other offers</a:t>
            </a:r>
            <a:endParaRPr sz="2025" b="0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7" name="problem-takeaway"/>
          <p:cNvSpPr>
            <a:spLocks noGrp="1"/>
          </p:cNvSpPr>
          <p:nvPr/>
        </p:nvSpPr>
        <p:spPr>
          <a:xfrm>
            <a:off x="933450" y="5562600"/>
            <a:ext cx="10287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2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Which offer should reach this customer, and when?</a:t>
            </a:r>
            <a:endParaRPr sz="225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section-label"/>
          <p:cNvSpPr>
            <a:spLocks noGrp="1"/>
          </p:cNvSpPr>
          <p:nvPr/>
        </p:nvSpPr>
        <p:spPr>
          <a:xfrm>
            <a:off x="704850" y="457200"/>
            <a:ext cx="571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THE SOLUTION</a:t>
            </a:r>
            <a:endParaRPr sz="1350" b="1">
              <a:solidFill>
                <a:srgbClr val="D8F078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" name="slide-title"/>
          <p:cNvSpPr>
            <a:spLocks noGrp="1"/>
          </p:cNvSpPr>
          <p:nvPr/>
        </p:nvSpPr>
        <p:spPr>
          <a:xfrm>
            <a:off x="704850" y="8001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lang="en-US"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THE </a:t>
            </a:r>
            <a:r>
              <a: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intelligence layer. Product-specific fit.</a:t>
            </a:r>
            <a:endParaRPr sz="36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" name="solution-subtitle"/>
          <p:cNvSpPr>
            <a:spLocks noGrp="1"/>
          </p:cNvSpPr>
          <p:nvPr/>
        </p:nvSpPr>
        <p:spPr>
          <a:xfrm>
            <a:off x="723900" y="154305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75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A shared process turns account activity into a reviewable product match.</a:t>
            </a:r>
            <a:endParaRPr sz="1875" b="0">
              <a:solidFill>
                <a:srgbClr val="C7D5DA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" name="bank-input"/>
          <p:cNvSpPr>
            <a:spLocks noGrp="1"/>
          </p:cNvSpPr>
          <p:nvPr/>
        </p:nvSpPr>
        <p:spPr>
          <a:xfrm>
            <a:off x="685800" y="2914650"/>
            <a:ext cx="2143125" cy="1409700"/>
          </a:xfrm>
          <a:prstGeom prst="roundRect">
            <a:avLst>
              <a:gd name="adj" fmla="val 5405"/>
            </a:avLst>
          </a:prstGeom>
          <a:solidFill>
            <a:srgbClr val="18334A"/>
          </a:solidFill>
          <a:ln w="14288">
            <a:solidFill>
              <a:srgbClr val="547285"/>
            </a:solidFill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BANK </a:t>
            </a:r>
            <a:r>
              <a:rPr lang="en-US"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/ </a:t>
            </a:r>
            <a:r>
              <a: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FINTECH</a:t>
            </a:r>
            <a:endParaRPr sz="16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lang="en-US"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user </a:t>
            </a:r>
            <a:endParaRPr sz="16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lang="en-US"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financial activity</a:t>
            </a:r>
            <a:endParaRPr lang="en-US" sz="16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solution-line-1"/>
          <p:cNvSpPr>
            <a:spLocks noGrp="1"/>
          </p:cNvSpPr>
          <p:nvPr/>
        </p:nvSpPr>
        <p:spPr>
          <a:xfrm>
            <a:off x="2828925" y="3619500"/>
            <a:ext cx="457200" cy="0"/>
          </a:xfrm>
          <a:prstGeom prst="line">
            <a:avLst/>
          </a:prstGeom>
          <a:noFill/>
          <a:ln w="28575">
            <a:solidFill>
              <a:srgbClr val="75909C"/>
            </a:solidFill>
            <a:prstDash val="solid"/>
          </a:ln>
        </p:spPr>
      </p:sp>
      <p:sp>
        <p:nvSpPr>
          <p:cNvPr id="6" name="coveriq-engine"/>
          <p:cNvSpPr>
            <a:spLocks noGrp="1"/>
          </p:cNvSpPr>
          <p:nvPr/>
        </p:nvSpPr>
        <p:spPr>
          <a:xfrm>
            <a:off x="3286125" y="2724150"/>
            <a:ext cx="2571750" cy="1790700"/>
          </a:xfrm>
          <a:prstGeom prst="roundRect">
            <a:avLst>
              <a:gd name="adj" fmla="val 4255"/>
            </a:avLst>
          </a:prstGeom>
          <a:solidFill>
            <a:srgbClr val="20C2A4"/>
          </a:solidFill>
          <a:ln w="0">
            <a:noFill/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br>
              <a:rPr>
                <a:sym typeface="+mn-ea"/>
              </a:rPr>
            </a:br>
            <a:br>
              <a:rPr>
                <a:sym typeface="+mn-ea"/>
              </a:rPr>
            </a:br>
            <a:r>
              <a:rPr>
                <a:sym typeface="+mn-ea"/>
              </a:rPr>
              <a:t>COVERIQ</a:t>
            </a:r>
            <a:br>
              <a:rPr>
                <a:sym typeface="+mn-ea"/>
              </a:rPr>
            </a:b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endParaRPr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  <a:sym typeface="+mn-ea"/>
            </a:endParaRPr>
          </a:p>
        </p:txBody>
      </p:sp>
      <p:sp>
        <p:nvSpPr>
          <p:cNvPr id="7" name="solution-line-2"/>
          <p:cNvSpPr>
            <a:spLocks noGrp="1"/>
          </p:cNvSpPr>
          <p:nvPr/>
        </p:nvSpPr>
        <p:spPr>
          <a:xfrm>
            <a:off x="5857875" y="3619500"/>
            <a:ext cx="504825" cy="0"/>
          </a:xfrm>
          <a:prstGeom prst="line">
            <a:avLst/>
          </a:prstGeom>
          <a:noFill/>
          <a:ln w="28575">
            <a:solidFill>
              <a:srgbClr val="75909C"/>
            </a:solidFill>
            <a:prstDash val="solid"/>
          </a:ln>
        </p:spPr>
      </p:sp>
      <p:sp>
        <p:nvSpPr>
          <p:cNvPr id="8" name="module-head"/>
          <p:cNvSpPr>
            <a:spLocks noGrp="1"/>
          </p:cNvSpPr>
          <p:nvPr/>
        </p:nvSpPr>
        <p:spPr>
          <a:xfrm>
            <a:off x="6477000" y="26289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PRODUCT FIT LOGIC</a:t>
            </a:r>
            <a:endParaRPr sz="1350" b="1">
              <a:solidFill>
                <a:srgbClr val="D8F078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insurance-module"/>
          <p:cNvSpPr>
            <a:spLocks noGrp="1"/>
          </p:cNvSpPr>
          <p:nvPr/>
        </p:nvSpPr>
        <p:spPr>
          <a:xfrm>
            <a:off x="6477000" y="3105150"/>
            <a:ext cx="2381250" cy="685800"/>
          </a:xfrm>
          <a:prstGeom prst="roundRect">
            <a:avLst>
              <a:gd name="adj" fmla="val 11111"/>
            </a:avLst>
          </a:prstGeom>
          <a:solidFill>
            <a:srgbClr val="D8F078"/>
          </a:solidFill>
          <a:ln w="0">
            <a:noFill/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Insurance</a:t>
            </a:r>
            <a:endParaRPr sz="15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Cash-flow fit</a:t>
            </a:r>
            <a:endParaRPr sz="15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future-module-a"/>
          <p:cNvSpPr>
            <a:spLocks noGrp="1"/>
          </p:cNvSpPr>
          <p:nvPr/>
        </p:nvSpPr>
        <p:spPr>
          <a:xfrm>
            <a:off x="6477000" y="3943350"/>
            <a:ext cx="1123950" cy="514350"/>
          </a:xfrm>
          <a:prstGeom prst="roundRect">
            <a:avLst>
              <a:gd name="adj" fmla="val 14815"/>
            </a:avLst>
          </a:prstGeom>
          <a:solidFill>
            <a:srgbClr val="29455A"/>
          </a:solidFill>
          <a:ln w="14288">
            <a:solidFill>
              <a:srgbClr val="547285"/>
            </a:solidFill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Savings</a:t>
            </a:r>
            <a:endParaRPr sz="1350" b="1">
              <a:solidFill>
                <a:srgbClr val="D7E3E5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future-module-b"/>
          <p:cNvSpPr>
            <a:spLocks noGrp="1"/>
          </p:cNvSpPr>
          <p:nvPr/>
        </p:nvSpPr>
        <p:spPr>
          <a:xfrm>
            <a:off x="7734300" y="3943350"/>
            <a:ext cx="1257300" cy="514350"/>
          </a:xfrm>
          <a:prstGeom prst="roundRect">
            <a:avLst>
              <a:gd name="adj" fmla="val 14815"/>
            </a:avLst>
          </a:prstGeom>
          <a:solidFill>
            <a:srgbClr val="29455A"/>
          </a:solidFill>
          <a:ln w="14288">
            <a:solidFill>
              <a:srgbClr val="547285"/>
            </a:solidFill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D7E3E5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Other offers</a:t>
            </a:r>
            <a:endParaRPr sz="1275" b="1">
              <a:solidFill>
                <a:srgbClr val="D7E3E5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solution-line-3"/>
          <p:cNvSpPr>
            <a:spLocks noGrp="1"/>
          </p:cNvSpPr>
          <p:nvPr/>
        </p:nvSpPr>
        <p:spPr>
          <a:xfrm>
            <a:off x="9029700" y="3619500"/>
            <a:ext cx="495300" cy="0"/>
          </a:xfrm>
          <a:prstGeom prst="line">
            <a:avLst/>
          </a:prstGeom>
          <a:noFill/>
          <a:ln w="28575">
            <a:solidFill>
              <a:srgbClr val="75909C"/>
            </a:solidFill>
            <a:prstDash val="solid"/>
          </a:ln>
        </p:spPr>
      </p:sp>
      <p:sp>
        <p:nvSpPr>
          <p:cNvPr id="13" name="bank-review"/>
          <p:cNvSpPr>
            <a:spLocks noGrp="1"/>
          </p:cNvSpPr>
          <p:nvPr/>
        </p:nvSpPr>
        <p:spPr>
          <a:xfrm>
            <a:off x="9525000" y="2914650"/>
            <a:ext cx="1971675" cy="14097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lang="en-US"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USER</a:t>
            </a:r>
            <a:endParaRPr lang="en-US"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current-vs-next"/>
          <p:cNvSpPr>
            <a:spLocks noGrp="1"/>
          </p:cNvSpPr>
          <p:nvPr/>
        </p:nvSpPr>
        <p:spPr>
          <a:xfrm>
            <a:off x="742950" y="5257800"/>
            <a:ext cx="1038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Insurance is the working example</a:t>
            </a:r>
            <a:r>
              <a:rPr lang="en-US"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 we will be using  for this demo</a:t>
            </a:r>
            <a:r>
              <a:rPr sz="1650" b="0">
                <a:solidFill>
                  <a:srgbClr val="C7D5DA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.</a:t>
            </a:r>
            <a:endParaRPr sz="1650" b="0">
              <a:solidFill>
                <a:srgbClr val="C7D5DA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section-label"/>
          <p:cNvSpPr>
            <a:spLocks noGrp="1"/>
          </p:cNvSpPr>
          <p:nvPr/>
        </p:nvSpPr>
        <p:spPr>
          <a:xfrm>
            <a:off x="704850" y="457200"/>
            <a:ext cx="571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HOW IT WORKS</a:t>
            </a:r>
            <a:endParaRPr sz="1350" b="1">
              <a:solidFill>
                <a:srgbClr val="20C2A4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" name="slide-title"/>
          <p:cNvSpPr>
            <a:spLocks noGrp="1"/>
          </p:cNvSpPr>
          <p:nvPr/>
        </p:nvSpPr>
        <p:spPr>
          <a:xfrm>
            <a:off x="704850" y="8001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What happens when I run the batch</a:t>
            </a:r>
            <a:endParaRPr sz="36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" name="workflow-spine"/>
          <p:cNvSpPr>
            <a:spLocks noGrp="1"/>
          </p:cNvSpPr>
          <p:nvPr/>
        </p:nvSpPr>
        <p:spPr>
          <a:xfrm>
            <a:off x="1257300" y="3181350"/>
            <a:ext cx="9639300" cy="0"/>
          </a:xfrm>
          <a:prstGeom prst="line">
            <a:avLst/>
          </a:prstGeom>
          <a:noFill/>
          <a:ln w="28575">
            <a:solidFill>
              <a:srgbClr val="B9C8C4"/>
            </a:solidFill>
            <a:prstDash val="solid"/>
          </a:ln>
        </p:spPr>
      </p:sp>
      <p:sp>
        <p:nvSpPr>
          <p:cNvPr id="4" name="workflow-number-0"/>
          <p:cNvSpPr>
            <a:spLocks noGrp="1"/>
          </p:cNvSpPr>
          <p:nvPr/>
        </p:nvSpPr>
        <p:spPr>
          <a:xfrm>
            <a:off x="933450" y="2857500"/>
            <a:ext cx="647700" cy="647700"/>
          </a:xfrm>
          <a:prstGeom prst="ellipse">
            <a:avLst/>
          </a:prstGeom>
          <a:solidFill>
            <a:srgbClr val="10243A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sz="142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workflow-heading-0"/>
          <p:cNvSpPr>
            <a:spLocks noGrp="1"/>
          </p:cNvSpPr>
          <p:nvPr/>
        </p:nvSpPr>
        <p:spPr>
          <a:xfrm>
            <a:off x="190500" y="3752850"/>
            <a:ext cx="213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36-month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histories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6" name="workflow-detail-0"/>
          <p:cNvSpPr>
            <a:spLocks noGrp="1"/>
          </p:cNvSpPr>
          <p:nvPr/>
        </p:nvSpPr>
        <p:spPr>
          <a:xfrm>
            <a:off x="190500" y="4514850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Sample accounts</a:t>
            </a:r>
            <a:endParaRPr sz="1350" b="0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workflow-number-1"/>
          <p:cNvSpPr>
            <a:spLocks noGrp="1"/>
          </p:cNvSpPr>
          <p:nvPr/>
        </p:nvSpPr>
        <p:spPr>
          <a:xfrm>
            <a:off x="3343275" y="2857500"/>
            <a:ext cx="647700" cy="647700"/>
          </a:xfrm>
          <a:prstGeom prst="ellipse">
            <a:avLst/>
          </a:prstGeom>
          <a:solidFill>
            <a:srgbClr val="10243A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142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8" name="workflow-heading-1"/>
          <p:cNvSpPr>
            <a:spLocks noGrp="1"/>
          </p:cNvSpPr>
          <p:nvPr/>
        </p:nvSpPr>
        <p:spPr>
          <a:xfrm>
            <a:off x="2600325" y="3752850"/>
            <a:ext cx="213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Cash-flow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features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workflow-detail-1"/>
          <p:cNvSpPr>
            <a:spLocks noGrp="1"/>
          </p:cNvSpPr>
          <p:nvPr/>
        </p:nvSpPr>
        <p:spPr>
          <a:xfrm>
            <a:off x="2600325" y="4514850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Income · outflows · balance</a:t>
            </a:r>
            <a:endParaRPr sz="1350" b="0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workflow-number-2"/>
          <p:cNvSpPr>
            <a:spLocks noGrp="1"/>
          </p:cNvSpPr>
          <p:nvPr/>
        </p:nvSpPr>
        <p:spPr>
          <a:xfrm>
            <a:off x="5753100" y="2857500"/>
            <a:ext cx="647700" cy="647700"/>
          </a:xfrm>
          <a:prstGeom prst="ellipse">
            <a:avLst/>
          </a:prstGeom>
          <a:solidFill>
            <a:srgbClr val="20C2A4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sz="1425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workflow-heading-2"/>
          <p:cNvSpPr>
            <a:spLocks noGrp="1"/>
          </p:cNvSpPr>
          <p:nvPr/>
        </p:nvSpPr>
        <p:spPr>
          <a:xfrm>
            <a:off x="5010150" y="3752850"/>
            <a:ext cx="213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Logistic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regression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workflow-detail-2"/>
          <p:cNvSpPr>
            <a:spLocks noGrp="1"/>
          </p:cNvSpPr>
          <p:nvPr/>
        </p:nvSpPr>
        <p:spPr>
          <a:xfrm>
            <a:off x="5010150" y="4514850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Learns simulated outcomes</a:t>
            </a:r>
            <a:endParaRPr sz="1350" b="0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workflow-number-3"/>
          <p:cNvSpPr>
            <a:spLocks noGrp="1"/>
          </p:cNvSpPr>
          <p:nvPr/>
        </p:nvSpPr>
        <p:spPr>
          <a:xfrm>
            <a:off x="8162925" y="2857500"/>
            <a:ext cx="647700" cy="647700"/>
          </a:xfrm>
          <a:prstGeom prst="ellipse">
            <a:avLst/>
          </a:prstGeom>
          <a:solidFill>
            <a:srgbClr val="10243A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142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workflow-heading-3"/>
          <p:cNvSpPr>
            <a:spLocks noGrp="1"/>
          </p:cNvSpPr>
          <p:nvPr/>
        </p:nvSpPr>
        <p:spPr>
          <a:xfrm>
            <a:off x="7419975" y="3752850"/>
            <a:ext cx="213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Five amount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scores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workflow-detail-3"/>
          <p:cNvSpPr>
            <a:spLocks noGrp="1"/>
          </p:cNvSpPr>
          <p:nvPr/>
        </p:nvSpPr>
        <p:spPr>
          <a:xfrm>
            <a:off x="7419975" y="4514850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Each scenario is tested</a:t>
            </a:r>
            <a:endParaRPr sz="1350" b="0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6" name="workflow-number-4"/>
          <p:cNvSpPr>
            <a:spLocks noGrp="1"/>
          </p:cNvSpPr>
          <p:nvPr/>
        </p:nvSpPr>
        <p:spPr>
          <a:xfrm>
            <a:off x="10572750" y="2857500"/>
            <a:ext cx="647700" cy="647700"/>
          </a:xfrm>
          <a:prstGeom prst="ellipse">
            <a:avLst/>
          </a:prstGeom>
          <a:solidFill>
            <a:srgbClr val="10243A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05</a:t>
            </a:r>
            <a:endParaRPr sz="142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7" name="workflow-heading-4"/>
          <p:cNvSpPr>
            <a:spLocks noGrp="1"/>
          </p:cNvSpPr>
          <p:nvPr/>
        </p:nvSpPr>
        <p:spPr>
          <a:xfrm>
            <a:off x="9829800" y="3752850"/>
            <a:ext cx="213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Review or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hold</a:t>
            </a:r>
            <a:endParaRPr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8" name="workflow-detail-4"/>
          <p:cNvSpPr>
            <a:spLocks noGrp="1"/>
          </p:cNvSpPr>
          <p:nvPr/>
        </p:nvSpPr>
        <p:spPr>
          <a:xfrm>
            <a:off x="9829800" y="4514850"/>
            <a:ext cx="21336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Demo routing threshold</a:t>
            </a:r>
            <a:endParaRPr sz="1350" b="0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9" name="workflow-disclosure"/>
          <p:cNvSpPr>
            <a:spLocks noGrp="1"/>
          </p:cNvSpPr>
          <p:nvPr/>
        </p:nvSpPr>
        <p:spPr>
          <a:xfrm>
            <a:off x="742950" y="5857875"/>
            <a:ext cx="952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Generated histories and outcomes.</a:t>
            </a:r>
            <a:endParaRPr sz="1425" b="0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7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section-label"/>
          <p:cNvSpPr>
            <a:spLocks noGrp="1"/>
          </p:cNvSpPr>
          <p:nvPr/>
        </p:nvSpPr>
        <p:spPr>
          <a:xfrm>
            <a:off x="704850" y="457200"/>
            <a:ext cx="571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LIVE RESULT</a:t>
            </a:r>
            <a:endParaRPr sz="1350" b="1">
              <a:solidFill>
                <a:srgbClr val="D8F078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" name="slide-title"/>
          <p:cNvSpPr>
            <a:spLocks noGrp="1"/>
          </p:cNvSpPr>
          <p:nvPr/>
        </p:nvSpPr>
        <p:spPr>
          <a:xfrm>
            <a:off x="704850" y="8001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One history. Five contribution scenarios.</a:t>
            </a:r>
            <a:endParaRPr sz="36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" name="customer-name"/>
          <p:cNvSpPr>
            <a:spLocks noGrp="1"/>
          </p:cNvSpPr>
          <p:nvPr/>
        </p:nvSpPr>
        <p:spPr>
          <a:xfrm>
            <a:off x="742950" y="1866900"/>
            <a:ext cx="3905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9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CHINEDU</a:t>
            </a:r>
            <a:endParaRPr sz="39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" name="history-period"/>
          <p:cNvSpPr>
            <a:spLocks noGrp="1"/>
          </p:cNvSpPr>
          <p:nvPr/>
        </p:nvSpPr>
        <p:spPr>
          <a:xfrm>
            <a:off x="762000" y="2638425"/>
            <a:ext cx="447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0">
                <a:solidFill>
                  <a:srgbClr val="C8D7DC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36 months of account activity</a:t>
            </a:r>
            <a:endParaRPr sz="1800" b="0">
              <a:solidFill>
                <a:srgbClr val="C8D7DC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scenario-label"/>
          <p:cNvSpPr>
            <a:spLocks noGrp="1"/>
          </p:cNvSpPr>
          <p:nvPr/>
        </p:nvSpPr>
        <p:spPr>
          <a:xfrm>
            <a:off x="6191250" y="2095500"/>
            <a:ext cx="523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D8F07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ILLUSTRATIVE MONTHLY TEST AMOUNTS</a:t>
            </a:r>
            <a:endParaRPr sz="1350" b="1">
              <a:solidFill>
                <a:srgbClr val="D8F078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6" name="amount-scenario-0"/>
          <p:cNvSpPr>
            <a:spLocks noGrp="1"/>
          </p:cNvSpPr>
          <p:nvPr/>
        </p:nvSpPr>
        <p:spPr>
          <a:xfrm>
            <a:off x="6572250" y="2628900"/>
            <a:ext cx="3143250" cy="342900"/>
          </a:xfrm>
          <a:prstGeom prst="roundRect">
            <a:avLst>
              <a:gd name="adj" fmla="val 22222"/>
            </a:avLst>
          </a:prstGeom>
          <a:solidFill>
            <a:srgbClr val="18334A"/>
          </a:solidFill>
          <a:ln w="14288">
            <a:solidFill>
              <a:srgbClr val="20C2A4"/>
            </a:solidFill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₦5,000 / month</a:t>
            </a:r>
            <a:endParaRPr sz="15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amount-scenario-1"/>
          <p:cNvSpPr>
            <a:spLocks noGrp="1"/>
          </p:cNvSpPr>
          <p:nvPr/>
        </p:nvSpPr>
        <p:spPr>
          <a:xfrm>
            <a:off x="6572250" y="3067050"/>
            <a:ext cx="3143250" cy="342900"/>
          </a:xfrm>
          <a:prstGeom prst="roundRect">
            <a:avLst>
              <a:gd name="adj" fmla="val 22222"/>
            </a:avLst>
          </a:prstGeom>
          <a:solidFill>
            <a:srgbClr val="18334A"/>
          </a:solidFill>
          <a:ln w="14288">
            <a:solidFill>
              <a:srgbClr val="20C2A4"/>
            </a:solidFill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₦15,000 / month</a:t>
            </a:r>
            <a:endParaRPr sz="15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8" name="amount-scenario-2"/>
          <p:cNvSpPr>
            <a:spLocks noGrp="1"/>
          </p:cNvSpPr>
          <p:nvPr/>
        </p:nvSpPr>
        <p:spPr>
          <a:xfrm>
            <a:off x="6572250" y="3505200"/>
            <a:ext cx="3143250" cy="342900"/>
          </a:xfrm>
          <a:prstGeom prst="roundRect">
            <a:avLst>
              <a:gd name="adj" fmla="val 22222"/>
            </a:avLst>
          </a:prstGeom>
          <a:solidFill>
            <a:srgbClr val="18334A"/>
          </a:solidFill>
          <a:ln w="14288">
            <a:solidFill>
              <a:srgbClr val="20C2A4"/>
            </a:solidFill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₦30,000 / month</a:t>
            </a:r>
            <a:endParaRPr sz="15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amount-scenario-3"/>
          <p:cNvSpPr>
            <a:spLocks noGrp="1"/>
          </p:cNvSpPr>
          <p:nvPr/>
        </p:nvSpPr>
        <p:spPr>
          <a:xfrm>
            <a:off x="6572250" y="3943350"/>
            <a:ext cx="3143250" cy="342900"/>
          </a:xfrm>
          <a:prstGeom prst="roundRect">
            <a:avLst>
              <a:gd name="adj" fmla="val 22222"/>
            </a:avLst>
          </a:prstGeom>
          <a:solidFill>
            <a:srgbClr val="18334A"/>
          </a:solidFill>
          <a:ln w="14288">
            <a:solidFill>
              <a:srgbClr val="20C2A4"/>
            </a:solidFill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₦60,000 / month</a:t>
            </a:r>
            <a:endParaRPr sz="15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amount-scenario-4"/>
          <p:cNvSpPr>
            <a:spLocks noGrp="1"/>
          </p:cNvSpPr>
          <p:nvPr/>
        </p:nvSpPr>
        <p:spPr>
          <a:xfrm>
            <a:off x="6572250" y="4381500"/>
            <a:ext cx="3143250" cy="342900"/>
          </a:xfrm>
          <a:prstGeom prst="roundRect">
            <a:avLst>
              <a:gd name="adj" fmla="val 22222"/>
            </a:avLst>
          </a:prstGeom>
          <a:solidFill>
            <a:srgbClr val="18334A"/>
          </a:solidFill>
          <a:ln w="14288">
            <a:solidFill>
              <a:srgbClr val="20C2A4"/>
            </a:solidFill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₦120,000 / month</a:t>
            </a:r>
            <a:endParaRPr sz="15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scenario-note"/>
          <p:cNvSpPr>
            <a:spLocks noGrp="1"/>
          </p:cNvSpPr>
          <p:nvPr/>
        </p:nvSpPr>
        <p:spPr>
          <a:xfrm>
            <a:off x="6210300" y="4953000"/>
            <a:ext cx="5219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B7C5CC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Each amount is scored against the same history.</a:t>
            </a:r>
            <a:endParaRPr sz="1350" b="0">
              <a:solidFill>
                <a:srgbClr val="B7C5CC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result-separator"/>
          <p:cNvSpPr>
            <a:spLocks noGrp="1"/>
          </p:cNvSpPr>
          <p:nvPr/>
        </p:nvSpPr>
        <p:spPr>
          <a:xfrm>
            <a:off x="762000" y="5467350"/>
            <a:ext cx="10668000" cy="0"/>
          </a:xfrm>
          <a:prstGeom prst="line">
            <a:avLst/>
          </a:prstGeom>
          <a:noFill/>
          <a:ln w="19050">
            <a:solidFill>
              <a:srgbClr val="334A5D"/>
            </a:solidFill>
            <a:prstDash val="solid"/>
          </a:ln>
        </p:spPr>
      </p:sp>
      <p:sp>
        <p:nvSpPr>
          <p:cNvPr id="13" name="result-bridge"/>
          <p:cNvSpPr>
            <a:spLocks noGrp="1"/>
          </p:cNvSpPr>
          <p:nvPr/>
        </p:nvSpPr>
        <p:spPr>
          <a:xfrm>
            <a:off x="762000" y="5695950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endParaRPr sz="21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section-label"/>
          <p:cNvSpPr>
            <a:spLocks noGrp="1"/>
          </p:cNvSpPr>
          <p:nvPr/>
        </p:nvSpPr>
        <p:spPr>
          <a:xfrm>
            <a:off x="704850" y="457200"/>
            <a:ext cx="571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SCALE AND NEXT THREE MONTHS</a:t>
            </a:r>
            <a:endParaRPr sz="1350" b="1">
              <a:solidFill>
                <a:srgbClr val="20C2A4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" name="slide-title"/>
          <p:cNvSpPr>
            <a:spLocks noGrp="1"/>
          </p:cNvSpPr>
          <p:nvPr/>
        </p:nvSpPr>
        <p:spPr>
          <a:xfrm>
            <a:off x="704850" y="8001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l">
              <a:defRPr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lang="en-US" altLang="en-GB" sz="36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An SDK that integrates with their system.</a:t>
            </a:r>
            <a:endParaRPr lang="en-US" altLang="en-GB" sz="36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" name="scale-flow-left"/>
          <p:cNvSpPr>
            <a:spLocks noGrp="1"/>
          </p:cNvSpPr>
          <p:nvPr/>
        </p:nvSpPr>
        <p:spPr>
          <a:xfrm>
            <a:off x="800100" y="1790700"/>
            <a:ext cx="2190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BANKS +</a:t>
            </a:r>
            <a:endParaRPr sz="195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95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FINTECHS</a:t>
            </a:r>
            <a:endParaRPr sz="195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" name="scale-flow-a"/>
          <p:cNvSpPr>
            <a:spLocks noGrp="1"/>
          </p:cNvSpPr>
          <p:nvPr/>
        </p:nvSpPr>
        <p:spPr>
          <a:xfrm>
            <a:off x="3086100" y="2181225"/>
            <a:ext cx="1238250" cy="0"/>
          </a:xfrm>
          <a:prstGeom prst="line">
            <a:avLst/>
          </a:prstGeom>
          <a:noFill/>
          <a:ln w="28575">
            <a:solidFill>
              <a:srgbClr val="B8C5C3"/>
            </a:solidFill>
            <a:prstDash val="solid"/>
          </a:ln>
        </p:spPr>
      </p:sp>
      <p:sp>
        <p:nvSpPr>
          <p:cNvPr id="5" name="scale-core"/>
          <p:cNvSpPr>
            <a:spLocks noGrp="1"/>
          </p:cNvSpPr>
          <p:nvPr/>
        </p:nvSpPr>
        <p:spPr>
          <a:xfrm>
            <a:off x="4324350" y="1724025"/>
            <a:ext cx="2857500" cy="914400"/>
          </a:xfrm>
          <a:prstGeom prst="roundRect">
            <a:avLst>
              <a:gd name="adj" fmla="val 8333"/>
            </a:avLst>
          </a:prstGeom>
          <a:solidFill>
            <a:srgbClr val="10243A"/>
          </a:solidFill>
          <a:ln w="0">
            <a:noFill/>
            <a:prstDash val="solid"/>
          </a:ln>
        </p:spPr>
        <p:txBody>
          <a:bodyPr wrap="square" lIns="114300" tIns="76200" rIns="114300" bIns="76200" anchor="ctr"/>
          <a:lstStyle>
            <a:def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COVERIQ</a:t>
            </a:r>
            <a:endParaRPr sz="16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Shared intake + routing</a:t>
            </a:r>
            <a:endParaRPr sz="16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6" name="scale-flow-b"/>
          <p:cNvSpPr>
            <a:spLocks noGrp="1"/>
          </p:cNvSpPr>
          <p:nvPr/>
        </p:nvSpPr>
        <p:spPr>
          <a:xfrm>
            <a:off x="7181850" y="2181225"/>
            <a:ext cx="1238250" cy="0"/>
          </a:xfrm>
          <a:prstGeom prst="line">
            <a:avLst/>
          </a:prstGeom>
          <a:noFill/>
          <a:ln w="28575">
            <a:solidFill>
              <a:srgbClr val="B8C5C3"/>
            </a:solidFill>
            <a:prstDash val="solid"/>
          </a:ln>
        </p:spPr>
      </p:sp>
      <p:sp>
        <p:nvSpPr>
          <p:cNvPr id="7" name="scale-out"/>
          <p:cNvSpPr>
            <a:spLocks noGrp="1"/>
          </p:cNvSpPr>
          <p:nvPr/>
        </p:nvSpPr>
        <p:spPr>
          <a:xfrm>
            <a:off x="8420100" y="1790700"/>
            <a:ext cx="3067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PRODUCT CATALOGUE</a:t>
            </a:r>
            <a:endParaRPr sz="1725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72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with product-specific fit logic</a:t>
            </a:r>
            <a:endParaRPr sz="1725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8" name="roadmap-line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1524000" y="4038600"/>
            <a:ext cx="9144000" cy="0"/>
          </a:xfrm>
          <a:prstGeom prst="line">
            <a:avLst/>
          </a:prstGeom>
          <a:noFill/>
          <a:ln w="28575">
            <a:solidFill>
              <a:srgbClr val="B8C5C3"/>
            </a:solidFill>
            <a:prstDash val="solid"/>
          </a:ln>
        </p:spPr>
      </p:sp>
      <p:sp>
        <p:nvSpPr>
          <p:cNvPr id="9" name="roadmap-node-0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000250" y="3752850"/>
            <a:ext cx="571500" cy="571500"/>
          </a:xfrm>
          <a:prstGeom prst="ellipse">
            <a:avLst/>
          </a:prstGeom>
          <a:solidFill>
            <a:srgbClr val="20C2A4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</a:t>
            </a:r>
            <a:endParaRPr sz="15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roadmap-month-0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952500" y="45434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MONTH 1</a:t>
            </a:r>
            <a:endParaRPr sz="1350" b="1">
              <a:solidFill>
                <a:srgbClr val="20C2A4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roadmap-label-0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762000" y="5085080"/>
            <a:ext cx="3048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lang="en-US" altLang="en-GB"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Define the SDK interface, data format and configurable product catalogue.</a:t>
            </a:r>
            <a:endParaRPr lang="en-US" altLang="en-GB"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roadmap-node-1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5810250" y="3752850"/>
            <a:ext cx="571500" cy="571500"/>
          </a:xfrm>
          <a:prstGeom prst="ellipse">
            <a:avLst/>
          </a:prstGeom>
          <a:solidFill>
            <a:srgbClr val="10243A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2</a:t>
            </a:r>
            <a:endParaRPr sz="15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roadmap-month-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4762500" y="45434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MONTH 2</a:t>
            </a:r>
            <a:endParaRPr sz="1350" b="1">
              <a:solidFill>
                <a:srgbClr val="20C2A4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roadmap-label-1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4799965" y="5085080"/>
            <a:ext cx="3048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lang="en-US" altLang="en-GB"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Make it adaptable</a:t>
            </a:r>
            <a:endParaRPr lang="en-US" altLang="en-GB"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lang="en-US" altLang="en-GB"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Build institution-specific data adapters, setup tools and integration.</a:t>
            </a:r>
            <a:endParaRPr lang="en-US" altLang="en-GB"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roadmap-node-2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9620250" y="3752850"/>
            <a:ext cx="571500" cy="571500"/>
          </a:xfrm>
          <a:prstGeom prst="ellipse">
            <a:avLst/>
          </a:prstGeom>
          <a:solidFill>
            <a:srgbClr val="D8F078"/>
          </a:solidFill>
          <a:ln w="0">
            <a:noFill/>
            <a:prstDash val="solid"/>
          </a:ln>
        </p:spPr>
        <p:txBody>
          <a:bodyPr wrap="square" lIns="66675" tIns="66675" rIns="66675" bIns="66675" anchor="ctr"/>
          <a:lstStyle>
            <a:def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</a:t>
            </a:r>
            <a:endParaRPr sz="1575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6" name="roadmap-month-2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8572500" y="45434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20C2A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MONTH 3</a:t>
            </a:r>
            <a:endParaRPr sz="1350" b="1">
              <a:solidFill>
                <a:srgbClr val="20C2A4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7" name="roadmap-label-2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8420100" y="5091430"/>
            <a:ext cx="3048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lang="en-US" altLang="en-GB" sz="1800" b="1">
                <a:solidFill>
                  <a:srgbClr val="0B172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Test the SDK with a bank or fintech in a controlled pilot, using approved data and measured outcomes.</a:t>
            </a:r>
            <a:endParaRPr lang="en-US" altLang="en-GB" sz="1800" b="1">
              <a:solidFill>
                <a:srgbClr val="0B172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8" name="scale-impact"/>
          <p:cNvSpPr>
            <a:spLocks noGrp="1"/>
          </p:cNvSpPr>
          <p:nvPr/>
        </p:nvSpPr>
        <p:spPr>
          <a:xfrm>
            <a:off x="781050" y="601980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defPPr>
            <a:lvl1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algn="ctr">
              <a:def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586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Measure relevance, customer response and poor-fit referrals.</a:t>
            </a:r>
            <a:endParaRPr sz="1425" b="0">
              <a:solidFill>
                <a:srgbClr val="586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1" name="Text Box 20"/>
          <p:cNvSpPr txBox="1"/>
          <p:nvPr/>
        </p:nvSpPr>
        <p:spPr>
          <a:xfrm>
            <a:off x="2630805" y="10350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/>
              <a:t> </a:t>
            </a:r>
            <a:endParaRPr lang="en-US" altLang="en-GB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ags/tag2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ags/tag3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ags/tag4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ags/tag5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ags/tag6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ags/tag7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ags/tag8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ags/tag9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ags/tag10.xml><?xml version="1.0" encoding="utf-8"?>
<p:tagLst xmlns:p="http://schemas.openxmlformats.org/presentationml/2006/main">
  <p:tag name="KSO_WM_DIAGRAM_VIRTUALLY_FRAME" val="{&quot;height&quot;:172.9,&quot;left&quot;:60,&quot;top&quot;:295.5,&quot;width&quot;:844.5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1813</Words>
  <Application>WPS Presentation</Application>
  <PresentationFormat>Converted Presentation</PresentationFormat>
  <Paragraphs>177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Arial</vt:lpstr>
      <vt:lpstr>SimSun</vt:lpstr>
      <vt:lpstr>Wingdings</vt:lpstr>
      <vt:lpstr>Segoe UI</vt:lpstr>
      <vt:lpstr>Microsoft YaHei</vt:lpstr>
      <vt:lpstr>Arial Unicode MS</vt:lpstr>
      <vt:lpstr>Aptos</vt:lpstr>
      <vt:lpstr>Segoe UI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USER</cp:lastModifiedBy>
  <cp:revision>2</cp:revision>
  <dcterms:created xsi:type="dcterms:W3CDTF">2026-10-22T20:08:29Z</dcterms:created>
  <dcterms:modified xsi:type="dcterms:W3CDTF">2026-10-22T20:57:19Z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C3AE0533CEA145538728C0D5C463C9D1_12</vt:lpwstr>
  </property>
  <property fmtid="{D5CDD505-2E9C-101B-9397-08002B2CF9AE}" pid="3" name="KSOProductBuildVer">
    <vt:lpwstr>2057-12.2.0.23206</vt:lpwstr>
  </property>
</Properties>
</file>